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1112" r:id="rId5"/>
    <p:sldId id="1109" r:id="rId6"/>
    <p:sldId id="1108" r:id="rId7"/>
    <p:sldId id="416" r:id="rId8"/>
    <p:sldId id="111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9A754-6432-400C-8E37-76AB62E206D0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ADEE0-F497-408D-ACB9-82CC2490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9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EADEE0-F497-408D-ACB9-82CC249019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56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06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BMI enables model coupling, interoperability (C, Fortran, and Python) of different language/code-based model, and input and output data standardization.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51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National Hydrography datasets (</a:t>
            </a:r>
            <a:r>
              <a:rPr lang="en-US" dirty="0" err="1"/>
              <a:t>NHDPlus</a:t>
            </a:r>
            <a:r>
              <a:rPr lang="en-US" dirty="0"/>
              <a:t> vs. </a:t>
            </a:r>
            <a:r>
              <a:rPr lang="en-US" dirty="0" err="1"/>
              <a:t>Hydrofabric</a:t>
            </a:r>
            <a:r>
              <a:rPr lang="en-US" dirty="0"/>
              <a:t>) </a:t>
            </a:r>
            <a:r>
              <a:rPr lang="en-US" b="1" dirty="0"/>
              <a:t>Is it refactored?</a:t>
            </a:r>
          </a:p>
          <a:p>
            <a:endParaRPr lang="en-US" dirty="0"/>
          </a:p>
          <a:p>
            <a:r>
              <a:rPr lang="en-US" dirty="0"/>
              <a:t>Hydro-Features (HY_Features): 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conceptual data model, aligned with Open Geospatial Consortium (OGC) standards, that identifies and describes surface water features.</a:t>
            </a:r>
            <a:endParaRPr lang="en-US" dirty="0"/>
          </a:p>
          <a:p>
            <a:endParaRPr lang="en-US" dirty="0"/>
          </a:p>
          <a:p>
            <a:r>
              <a:rPr lang="en-US" sz="9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Hydrofabric</a:t>
            </a:r>
            <a:r>
              <a:rPr lang="en-US" sz="9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explicit network that organizes hydro-features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E6432-D271-40F5-8EBD-F181484335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431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Diffusive wave: ignore two acceleration (local and convective) terms and consider pressure gradient term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80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Muskingum–</a:t>
            </a:r>
            <a:r>
              <a:rPr lang="en-US" b="1" dirty="0" err="1"/>
              <a:t>Cunge</a:t>
            </a:r>
            <a:r>
              <a:rPr lang="en-US" b="1" dirty="0"/>
              <a:t> routing</a:t>
            </a:r>
            <a:r>
              <a:rPr lang="en-US" dirty="0"/>
              <a:t> is an extension of Muskingum routing that makes the method </a:t>
            </a:r>
            <a:r>
              <a:rPr lang="en-US" b="1" dirty="0"/>
              <a:t>physically based</a:t>
            </a:r>
            <a:r>
              <a:rPr lang="en-US" dirty="0"/>
              <a:t> by linking its parameters to channel properties and flow conditions.</a:t>
            </a:r>
          </a:p>
          <a:p>
            <a:endParaRPr lang="en-US" dirty="0"/>
          </a:p>
          <a:p>
            <a:r>
              <a:rPr lang="en-US" dirty="0"/>
              <a:t>K: Storage constant (travel time), </a:t>
            </a:r>
          </a:p>
          <a:p>
            <a:r>
              <a:rPr lang="en-US" dirty="0"/>
              <a:t>x: attenuation factor (0: reservoir, more attenuation, 0.5: more wave translation, less attenuation)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091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Diffusive wave equation (continuity + momentum)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Crank-Nicolson over Space (CNS)</a:t>
            </a:r>
          </a:p>
          <a:p>
            <a:endParaRPr lang="en-US" dirty="0"/>
          </a:p>
          <a:p>
            <a:r>
              <a:rPr lang="en-US" dirty="0"/>
              <a:t>H calculation: momentum eq. (Sf is calculated using conveyance and Q from manning’s eq).</a:t>
            </a:r>
          </a:p>
          <a:p>
            <a:endParaRPr lang="en-US" dirty="0"/>
          </a:p>
          <a:p>
            <a:r>
              <a:rPr lang="en-US" b="1" dirty="0"/>
              <a:t>Celerity</a:t>
            </a:r>
            <a:r>
              <a:rPr lang="en-US" dirty="0"/>
              <a:t> is the speed at which a wave or perturbation propagates (wave speed), while </a:t>
            </a:r>
            <a:r>
              <a:rPr lang="en-US" b="1" dirty="0"/>
              <a:t>diffusivity</a:t>
            </a:r>
            <a:r>
              <a:rPr lang="en-US" dirty="0"/>
              <a:t> is the rate at which that wave attenuates or spreads out as it travels.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E6432-D271-40F5-8EBD-F181484335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378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CFCB-A0AE-1B1A-932C-E17436B63B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C5A5FA-0703-ED09-5F80-C4C0296E6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BA477-9EC3-549A-D917-B035E1E7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C760B-1A90-CE5A-D83F-588CC8B5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C9307-9997-4918-E938-BCA552FF2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62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8CE8-78B0-EF8D-E637-D38D610CA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5588F-0D1F-7C39-C67D-B8E134C25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7CE-7348-944D-D5D0-FEC25D8D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0B576-AE2D-ED40-4471-A12A6B5DF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5D6C1-6BD8-891C-54F9-647E538C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32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4E4FD-507B-BB2B-F66B-E04A94B79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CFF08-5812-C1F1-A801-7B4DC55E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073E8-1ED2-B064-E7BF-C110B4BEA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DA68F-6073-8CAB-86AF-F8FAD215E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C0D14-3B00-1201-0757-BBF76B96B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55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28190-FD1A-930D-8D99-06B368A4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D1FB-5F0C-D7AF-22E6-B3A8CED337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1B56E-2B35-801E-0696-D101D7C595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9B546-6383-4813-7B07-327B6283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9178E-B358-4418-6C5F-1D49A0C10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509C9-3846-6C40-CB8C-DB111FDC1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0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BE8A-6546-00EC-D402-F06E1E412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124B6-8F19-9FC7-003E-BE0C3B93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6434F-006E-C408-32DB-A8B4D93714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FAF78E-AC25-9005-F6E7-F4990E0A5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E544D-076D-A9C5-83E0-A0A38B065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C3290-D7C5-9D95-B217-2B47061F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C6C1A-6CDD-4AF1-F77B-4573495CF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F45CC-1F8E-F5BF-C2F1-49CB5B3B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516A-AAF6-F470-F1DE-C6C136D5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85720D-578F-7524-83D3-F1EED2E9E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216D78-A981-2837-9AF7-5CD6D77B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04885-F7AF-78C0-951A-C212876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20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966F42-BD22-B27A-E822-DF3EDD34A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A66236-7B8E-C7E2-07D3-81610983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1F51E-1D96-3370-4848-F4EB7813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0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FAFE5-4105-B8C5-F84C-A7F16F75F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B2-5BAF-9DD6-F31F-8BF68C2F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66FA9-3144-6B93-EEFF-FADEA248B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E93E1-56A9-3E5A-A80D-5C2AE534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EA094-9183-8996-91F4-92F10732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88ABF-FFA7-9032-1404-73D451B6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40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C70C-0E75-158A-447B-DC3DDFED8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CC263-67B2-DFCD-2586-808DD4F38B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7952A0-5A90-4EA8-83F4-195DC772FB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879AB-07D9-7B48-BDAB-A485F2C3C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EE7C3-D762-3B98-05EC-4F28CB0B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5038D-7AEF-6235-D96E-8471BDB6F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91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47C7-EAE3-5548-A8BA-45963D44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C20FD7-79BA-B899-E7A2-C1B1412E8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06E7-80C1-DAD7-8F3A-DE20CC3FF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C39D7-405C-49FF-1C1F-6D762F11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2DCC-D5F8-F419-4A23-CE26EE6C9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5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DA7C0-7FE0-A6B5-A062-4F0ECB03B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B4F6D-8758-2823-D914-9C2282495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DF1DC-99CE-D3E1-E1B8-EFEFDA1C9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3DCD6-142C-E40A-F947-84EE2B92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A0B6F-18E6-2B15-0B17-1AD4E86F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4482F5-78E6-301D-2210-EDB3E985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A837E-255F-2CA1-8FB3-B984EA403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AB13C-96FF-5C3A-822E-91CED11F58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408883-CD66-4E59-B229-02EFE794070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CF464-92D4-D9A6-21C2-8768D8EEB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D8160-3CC7-730A-A96F-62C6E3A8F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2E421-9B95-40FE-AB83-ECBFC84B15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04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30.png"/><Relationship Id="rId5" Type="http://schemas.openxmlformats.org/officeDocument/2006/relationships/image" Target="../media/image15.png"/><Relationship Id="rId10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31.png"/><Relationship Id="rId5" Type="http://schemas.openxmlformats.org/officeDocument/2006/relationships/image" Target="../media/image23.png"/><Relationship Id="rId15" Type="http://schemas.openxmlformats.org/officeDocument/2006/relationships/image" Target="../media/image35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7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Aerial view of valley map">
            <a:extLst>
              <a:ext uri="{FF2B5EF4-FFF2-40B4-BE49-F238E27FC236}">
                <a16:creationId xmlns:a16="http://schemas.microsoft.com/office/drawing/2014/main" id="{E49E72DD-0586-3EB4-DC24-1FEC9C539C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316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42DCC3-5F56-7069-53A2-088C86985486}"/>
              </a:ext>
            </a:extLst>
          </p:cNvPr>
          <p:cNvSpPr txBox="1"/>
          <p:nvPr/>
        </p:nvSpPr>
        <p:spPr>
          <a:xfrm>
            <a:off x="0" y="1196980"/>
            <a:ext cx="1218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</a:rPr>
              <a:t>Session 1: Introduction to the NextGen Framework and T-Route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C92744-3B93-C71D-909C-2184BF69E1A7}"/>
              </a:ext>
            </a:extLst>
          </p:cNvPr>
          <p:cNvSpPr txBox="1"/>
          <p:nvPr/>
        </p:nvSpPr>
        <p:spPr>
          <a:xfrm>
            <a:off x="0" y="3912103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Bong Chul Seo &amp; Md Saiduzzaman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2B3F03-5778-6558-3E3C-E6C81C45A6E0}"/>
              </a:ext>
            </a:extLst>
          </p:cNvPr>
          <p:cNvSpPr txBox="1"/>
          <p:nvPr/>
        </p:nvSpPr>
        <p:spPr>
          <a:xfrm>
            <a:off x="0" y="5020081"/>
            <a:ext cx="12188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July 15, </a:t>
            </a:r>
            <a:r>
              <a:rPr lang="en-US" sz="4000" b="1" dirty="0">
                <a:solidFill>
                  <a:schemeClr val="bg1"/>
                </a:solidFill>
              </a:rPr>
              <a:t>2026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A0D6B0-C7B3-D714-4523-4282818ED9ED}"/>
              </a:ext>
            </a:extLst>
          </p:cNvPr>
          <p:cNvSpPr txBox="1"/>
          <p:nvPr/>
        </p:nvSpPr>
        <p:spPr>
          <a:xfrm>
            <a:off x="-4571" y="-1672"/>
            <a:ext cx="121889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T-Route </a:t>
            </a:r>
            <a:r>
              <a:rPr lang="en-US" b="1" dirty="0">
                <a:solidFill>
                  <a:schemeClr val="bg1"/>
                </a:solidFill>
              </a:rPr>
              <a:t>Workshop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2" name="image2.png">
            <a:extLst>
              <a:ext uri="{FF2B5EF4-FFF2-40B4-BE49-F238E27FC236}">
                <a16:creationId xmlns:a16="http://schemas.microsoft.com/office/drawing/2014/main" id="{41E75F24-214A-606A-BFAB-3F2A1CCB4E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0906999" y="5805007"/>
            <a:ext cx="914400" cy="914400"/>
          </a:xfrm>
          <a:prstGeom prst="rect">
            <a:avLst/>
          </a:prstGeom>
          <a:ln/>
        </p:spPr>
      </p:pic>
      <p:pic>
        <p:nvPicPr>
          <p:cNvPr id="43" name="image1.png">
            <a:extLst>
              <a:ext uri="{FF2B5EF4-FFF2-40B4-BE49-F238E27FC236}">
                <a16:creationId xmlns:a16="http://schemas.microsoft.com/office/drawing/2014/main" id="{C637E70E-3A92-7C62-A218-751DE77952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02200" y="5805007"/>
            <a:ext cx="914400" cy="914400"/>
          </a:xfrm>
          <a:prstGeom prst="rect">
            <a:avLst/>
          </a:prstGeom>
          <a:ln/>
        </p:spPr>
      </p:pic>
      <p:pic>
        <p:nvPicPr>
          <p:cNvPr id="44" name="Picture 2">
            <a:extLst>
              <a:ext uri="{FF2B5EF4-FFF2-40B4-BE49-F238E27FC236}">
                <a16:creationId xmlns:a16="http://schemas.microsoft.com/office/drawing/2014/main" id="{28359388-FC06-5C9A-8FA1-808D3FE3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29" y="5805007"/>
            <a:ext cx="1122891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85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EA35AD-E8D8-C4FA-0707-AFA8F5F34D4F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/>
            <a:r>
              <a:rPr lang="en-US" sz="4800" b="1" dirty="0">
                <a:solidFill>
                  <a:schemeClr val="tx1"/>
                </a:solidFill>
              </a:rPr>
              <a:t>National Water Model (NWM)</a:t>
            </a:r>
          </a:p>
        </p:txBody>
      </p:sp>
      <p:pic>
        <p:nvPicPr>
          <p:cNvPr id="11" name="Picture 2" descr="WRF-Hydro Plus NHDPlusV2 Data">
            <a:extLst>
              <a:ext uri="{FF2B5EF4-FFF2-40B4-BE49-F238E27FC236}">
                <a16:creationId xmlns:a16="http://schemas.microsoft.com/office/drawing/2014/main" id="{319C2F90-F48C-F003-F6BE-DC26E72FC1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62" r="56310"/>
          <a:stretch/>
        </p:blipFill>
        <p:spPr bwMode="auto">
          <a:xfrm>
            <a:off x="487111" y="1706615"/>
            <a:ext cx="3509451" cy="222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AB6B4BF-DCB8-52B0-0463-14655E943C84}"/>
              </a:ext>
            </a:extLst>
          </p:cNvPr>
          <p:cNvGrpSpPr/>
          <p:nvPr/>
        </p:nvGrpSpPr>
        <p:grpSpPr>
          <a:xfrm>
            <a:off x="374400" y="3915455"/>
            <a:ext cx="3783566" cy="2660556"/>
            <a:chOff x="285716" y="2543301"/>
            <a:chExt cx="2837675" cy="199541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2B387BB-E53F-C3EA-BD6E-26E4CD608EB0}"/>
                </a:ext>
              </a:extLst>
            </p:cNvPr>
            <p:cNvGrpSpPr/>
            <p:nvPr/>
          </p:nvGrpSpPr>
          <p:grpSpPr>
            <a:xfrm>
              <a:off x="285716" y="2844880"/>
              <a:ext cx="2837675" cy="1693838"/>
              <a:chOff x="54730" y="1363850"/>
              <a:chExt cx="3509541" cy="1859797"/>
            </a:xfrm>
          </p:grpSpPr>
          <p:pic>
            <p:nvPicPr>
              <p:cNvPr id="15" name="Picture 12" descr="Water | National Center for Atmospheric Research">
                <a:extLst>
                  <a:ext uri="{FF2B5EF4-FFF2-40B4-BE49-F238E27FC236}">
                    <a16:creationId xmlns:a16="http://schemas.microsoft.com/office/drawing/2014/main" id="{53CAA8BC-ACBA-CD3D-8F4C-BA4E560068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628" b="16815"/>
              <a:stretch/>
            </p:blipFill>
            <p:spPr bwMode="auto">
              <a:xfrm>
                <a:off x="54730" y="1363850"/>
                <a:ext cx="3509541" cy="1859797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4" descr="https://upload.wikimedia.org/wikipedia/commons/thumb/7/79/NOAA_logo.svg/2000px-NOAA_logo.svg.png">
                <a:extLst>
                  <a:ext uri="{FF2B5EF4-FFF2-40B4-BE49-F238E27FC236}">
                    <a16:creationId xmlns:a16="http://schemas.microsoft.com/office/drawing/2014/main" id="{762E8919-32D6-C83A-B500-E21310CCBE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2452" y="2738478"/>
                <a:ext cx="568136" cy="4618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873C014-C35A-885D-EE71-88BE8ACAAF3F}"/>
                </a:ext>
              </a:extLst>
            </p:cNvPr>
            <p:cNvSpPr txBox="1"/>
            <p:nvPr/>
          </p:nvSpPr>
          <p:spPr>
            <a:xfrm>
              <a:off x="487546" y="2543301"/>
              <a:ext cx="2459760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b="1" dirty="0">
                  <a:solidFill>
                    <a:srgbClr val="0E2841"/>
                  </a:solidFill>
                  <a:latin typeface="Aptos" panose="020B000402020202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NWM: about 2.7 M points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F04B5D0-5791-79EC-F62F-57196E307430}"/>
              </a:ext>
            </a:extLst>
          </p:cNvPr>
          <p:cNvSpPr txBox="1"/>
          <p:nvPr/>
        </p:nvSpPr>
        <p:spPr>
          <a:xfrm>
            <a:off x="557932" y="1346116"/>
            <a:ext cx="3582584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33" b="1" dirty="0">
                <a:solidFill>
                  <a:srgbClr val="0E2841"/>
                </a:solidFill>
                <a:latin typeface="Aptos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3,600 forecast points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285368B-AA90-257F-F4BE-7FC3E609B2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714" y="1507614"/>
            <a:ext cx="7616397" cy="5138993"/>
          </a:xfrm>
          <a:prstGeom prst="rect">
            <a:avLst/>
          </a:prstGeom>
        </p:spPr>
      </p:pic>
      <p:pic>
        <p:nvPicPr>
          <p:cNvPr id="19" name="Picture 18" descr="The WRF-Hydro® Project">
            <a:extLst>
              <a:ext uri="{FF2B5EF4-FFF2-40B4-BE49-F238E27FC236}">
                <a16:creationId xmlns:a16="http://schemas.microsoft.com/office/drawing/2014/main" id="{3FC663FC-56E9-BB85-BC4B-43FF629E5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3419" y="4424919"/>
            <a:ext cx="1188203" cy="739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299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D75F060-1FA2-2CE8-B706-F52AA6798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36" y="1675396"/>
            <a:ext cx="6032592" cy="43015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5781D1-6580-FDE4-55B1-1832BA30BB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157" y="1705753"/>
            <a:ext cx="6788623" cy="428968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A3BE6FE-D90B-331E-560A-66BF5F624854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/>
            <a:r>
              <a:rPr lang="en-US" sz="4800" b="1" dirty="0">
                <a:solidFill>
                  <a:schemeClr val="tx1"/>
                </a:solidFill>
              </a:rPr>
              <a:t>NextGen Framework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CE3D6DE-E12C-8496-2F4C-038BB011EDB3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rgbClr val="ED7D31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10800000">
            <a:off x="9646007" y="3106749"/>
            <a:ext cx="2064395" cy="28733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39B835-CD84-C013-A5A0-32C8A7615A47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rgbClr val="FFC000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16200000">
            <a:off x="7941904" y="3486597"/>
            <a:ext cx="2064395" cy="28733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F22B6D-4578-6E5E-2167-E275E17DCD8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 rot="10800000">
            <a:off x="9646005" y="3106749"/>
            <a:ext cx="2064395" cy="28733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4BBAA4E-FCFD-6430-B988-455263D83CC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rgbClr val="70AD47">
                <a:shade val="45000"/>
                <a:satMod val="135000"/>
              </a:srgbClr>
              <a:prstClr val="white"/>
            </a:duotone>
          </a:blip>
          <a:stretch>
            <a:fillRect/>
          </a:stretch>
        </p:blipFill>
        <p:spPr>
          <a:xfrm rot="16200000">
            <a:off x="7941903" y="3486598"/>
            <a:ext cx="2064395" cy="2873327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9706D9C-ED9E-F183-304A-E06352EAE27A}"/>
              </a:ext>
            </a:extLst>
          </p:cNvPr>
          <p:cNvGrpSpPr/>
          <p:nvPr/>
        </p:nvGrpSpPr>
        <p:grpSpPr>
          <a:xfrm>
            <a:off x="8850398" y="1810676"/>
            <a:ext cx="2873327" cy="2064395"/>
            <a:chOff x="7091131" y="594340"/>
            <a:chExt cx="2873326" cy="2064394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5F30A3C-AF12-0524-69BD-B090181B9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grayscl/>
            </a:blip>
            <a:stretch>
              <a:fillRect/>
            </a:stretch>
          </p:blipFill>
          <p:spPr>
            <a:xfrm rot="5400000">
              <a:off x="7495597" y="189874"/>
              <a:ext cx="2064394" cy="2873326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6AC0F19-032F-A659-1CF5-39C98D3BBA2D}"/>
                </a:ext>
              </a:extLst>
            </p:cNvPr>
            <p:cNvSpPr/>
            <p:nvPr/>
          </p:nvSpPr>
          <p:spPr>
            <a:xfrm>
              <a:off x="7137311" y="1191491"/>
              <a:ext cx="759778" cy="108056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buClr>
                  <a:srgbClr val="000000"/>
                </a:buClr>
                <a:defRPr/>
              </a:pPr>
              <a:endParaRPr lang="en-US" sz="1400" kern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A906D6F-2D5B-DB3F-4C1D-95A908CA4CA8}"/>
              </a:ext>
            </a:extLst>
          </p:cNvPr>
          <p:cNvGrpSpPr/>
          <p:nvPr/>
        </p:nvGrpSpPr>
        <p:grpSpPr>
          <a:xfrm>
            <a:off x="7555904" y="1788630"/>
            <a:ext cx="2064395" cy="2873327"/>
            <a:chOff x="3312058" y="944701"/>
            <a:chExt cx="2064394" cy="287332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C411E70-898E-9EF3-A454-CE5F09DB7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srgbClr val="4472C4">
                  <a:shade val="45000"/>
                  <a:satMod val="135000"/>
                </a:srgbClr>
                <a:prstClr val="white"/>
              </a:duotone>
            </a:blip>
            <a:stretch>
              <a:fillRect/>
            </a:stretch>
          </p:blipFill>
          <p:spPr>
            <a:xfrm>
              <a:off x="3312058" y="944701"/>
              <a:ext cx="2064394" cy="2873326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411AFF-47F6-7ACE-15B6-F3F56FB90E51}"/>
                </a:ext>
              </a:extLst>
            </p:cNvPr>
            <p:cNvSpPr/>
            <p:nvPr/>
          </p:nvSpPr>
          <p:spPr>
            <a:xfrm>
              <a:off x="4335907" y="1345223"/>
              <a:ext cx="1032197" cy="1239715"/>
            </a:xfrm>
            <a:prstGeom prst="rect">
              <a:avLst/>
            </a:prstGeom>
            <a:solidFill>
              <a:srgbClr val="7791C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1219170">
                <a:buClr>
                  <a:srgbClr val="000000"/>
                </a:buClr>
                <a:defRPr/>
              </a:pPr>
              <a:endParaRPr lang="en-US" sz="1400" kern="0">
                <a:solidFill>
                  <a:prstClr val="white"/>
                </a:solidFill>
                <a:latin typeface="Calibri" panose="020F0502020204030204"/>
                <a:sym typeface="Arial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B9313DFA-4173-06D9-0260-4110488EFA2E}"/>
              </a:ext>
            </a:extLst>
          </p:cNvPr>
          <p:cNvSpPr txBox="1"/>
          <p:nvPr/>
        </p:nvSpPr>
        <p:spPr>
          <a:xfrm>
            <a:off x="8119114" y="2635321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Forcing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6E3B6B0-8010-E221-B156-D6C6660F4108}"/>
              </a:ext>
            </a:extLst>
          </p:cNvPr>
          <p:cNvSpPr txBox="1"/>
          <p:nvPr/>
        </p:nvSpPr>
        <p:spPr>
          <a:xfrm>
            <a:off x="7819933" y="4735887"/>
            <a:ext cx="16417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Hydrologic</a:t>
            </a:r>
          </a:p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5F6308-CE97-3478-86C1-B2AB82F9A177}"/>
              </a:ext>
            </a:extLst>
          </p:cNvPr>
          <p:cNvSpPr txBox="1"/>
          <p:nvPr/>
        </p:nvSpPr>
        <p:spPr>
          <a:xfrm>
            <a:off x="10256175" y="4571762"/>
            <a:ext cx="14702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Hydraulic</a:t>
            </a:r>
          </a:p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D682F36-1721-A787-4B32-BEED3A35EF70}"/>
              </a:ext>
            </a:extLst>
          </p:cNvPr>
          <p:cNvSpPr txBox="1"/>
          <p:nvPr/>
        </p:nvSpPr>
        <p:spPr>
          <a:xfrm>
            <a:off x="9738274" y="2024926"/>
            <a:ext cx="18261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Forecasts &amp;</a:t>
            </a:r>
          </a:p>
          <a:p>
            <a:pPr algn="ctr" defTabSz="1219170">
              <a:buClr>
                <a:srgbClr val="000000"/>
              </a:buClr>
            </a:pPr>
            <a:r>
              <a:rPr lang="en-US" sz="24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Inundation</a:t>
            </a:r>
          </a:p>
        </p:txBody>
      </p:sp>
    </p:spTree>
    <p:extLst>
      <p:ext uri="{BB962C8B-B14F-4D97-AF65-F5344CB8AC3E}">
        <p14:creationId xmlns:p14="http://schemas.microsoft.com/office/powerpoint/2010/main" val="364424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map of a river&#10;&#10;AI-generated content may be incorrect.">
            <a:extLst>
              <a:ext uri="{FF2B5EF4-FFF2-40B4-BE49-F238E27FC236}">
                <a16:creationId xmlns:a16="http://schemas.microsoft.com/office/drawing/2014/main" id="{4240A72B-0B76-04A2-49FB-EC12810DD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" t="14314" r="3219" b="14314"/>
          <a:stretch>
            <a:fillRect/>
          </a:stretch>
        </p:blipFill>
        <p:spPr>
          <a:xfrm>
            <a:off x="4962144" y="4310237"/>
            <a:ext cx="7193280" cy="2218944"/>
          </a:xfrm>
          <a:prstGeom prst="rect">
            <a:avLst/>
          </a:prstGeom>
        </p:spPr>
      </p:pic>
      <p:pic>
        <p:nvPicPr>
          <p:cNvPr id="14" name="Picture 13" descr="A map of a river&#10;&#10;AI-generated content may be incorrect.">
            <a:extLst>
              <a:ext uri="{FF2B5EF4-FFF2-40B4-BE49-F238E27FC236}">
                <a16:creationId xmlns:a16="http://schemas.microsoft.com/office/drawing/2014/main" id="{2A8104D2-A5CD-295B-4EE2-829EB5B745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" t="14314" r="3219" b="14314"/>
          <a:stretch>
            <a:fillRect/>
          </a:stretch>
        </p:blipFill>
        <p:spPr>
          <a:xfrm>
            <a:off x="4962144" y="4310237"/>
            <a:ext cx="7193280" cy="2218944"/>
          </a:xfrm>
          <a:prstGeom prst="rect">
            <a:avLst/>
          </a:prstGeom>
        </p:spPr>
      </p:pic>
      <p:pic>
        <p:nvPicPr>
          <p:cNvPr id="18" name="Picture 17" descr="A map of a river&#10;&#10;AI-generated content may be incorrect.">
            <a:extLst>
              <a:ext uri="{FF2B5EF4-FFF2-40B4-BE49-F238E27FC236}">
                <a16:creationId xmlns:a16="http://schemas.microsoft.com/office/drawing/2014/main" id="{6C84E380-B9A7-AEB3-7D72-0D0627870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" t="14313" r="3219" b="14313"/>
          <a:stretch>
            <a:fillRect/>
          </a:stretch>
        </p:blipFill>
        <p:spPr>
          <a:xfrm>
            <a:off x="4962144" y="4310237"/>
            <a:ext cx="7193280" cy="2218944"/>
          </a:xfrm>
          <a:prstGeom prst="rect">
            <a:avLst/>
          </a:prstGeom>
        </p:spPr>
      </p:pic>
      <p:pic>
        <p:nvPicPr>
          <p:cNvPr id="24" name="Picture 23" descr="A map of a river&#10;&#10;AI-generated content may be incorrect.">
            <a:extLst>
              <a:ext uri="{FF2B5EF4-FFF2-40B4-BE49-F238E27FC236}">
                <a16:creationId xmlns:a16="http://schemas.microsoft.com/office/drawing/2014/main" id="{09EDD482-B376-80D2-E7E2-562936E46C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14375" r="3250" b="14375"/>
          <a:stretch>
            <a:fillRect/>
          </a:stretch>
        </p:blipFill>
        <p:spPr>
          <a:xfrm>
            <a:off x="4876801" y="1401725"/>
            <a:ext cx="7195161" cy="2216888"/>
          </a:xfrm>
          <a:prstGeom prst="rect">
            <a:avLst/>
          </a:prstGeom>
        </p:spPr>
      </p:pic>
      <p:pic>
        <p:nvPicPr>
          <p:cNvPr id="20" name="Picture 19" descr="A map of a river&#10;&#10;AI-generated content may be incorrect.">
            <a:extLst>
              <a:ext uri="{FF2B5EF4-FFF2-40B4-BE49-F238E27FC236}">
                <a16:creationId xmlns:a16="http://schemas.microsoft.com/office/drawing/2014/main" id="{959BDADD-A8DC-B40C-345C-6F19E55B6D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14375" r="3250" b="14375"/>
          <a:stretch>
            <a:fillRect/>
          </a:stretch>
        </p:blipFill>
        <p:spPr>
          <a:xfrm>
            <a:off x="4876801" y="1401725"/>
            <a:ext cx="7195161" cy="22168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296DA12-C7A0-2FFE-7B9E-A05568B2A2EC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 defTabSz="609585">
              <a:defRPr/>
            </a:pPr>
            <a:r>
              <a:rPr lang="en-US" sz="4800" b="1" dirty="0">
                <a:solidFill>
                  <a:prstClr val="black"/>
                </a:solidFill>
                <a:latin typeface="Aptos" panose="02110004020202020204"/>
              </a:rPr>
              <a:t>Hydrofabric</a:t>
            </a:r>
          </a:p>
        </p:txBody>
      </p:sp>
      <p:sp>
        <p:nvSpPr>
          <p:cNvPr id="5" name="Text 3"/>
          <p:cNvSpPr/>
          <p:nvPr/>
        </p:nvSpPr>
        <p:spPr>
          <a:xfrm>
            <a:off x="7182251" y="910915"/>
            <a:ext cx="2513973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NHDPlus</a:t>
            </a:r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433ED1CE-7E02-EA7E-F9EE-DBF387D6AB91}"/>
              </a:ext>
            </a:extLst>
          </p:cNvPr>
          <p:cNvSpPr/>
          <p:nvPr/>
        </p:nvSpPr>
        <p:spPr>
          <a:xfrm>
            <a:off x="6874747" y="3780541"/>
            <a:ext cx="3276379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Hydrofabric</a:t>
            </a: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95FDBDA0-61DE-169B-7F7C-03F993E619EB}"/>
              </a:ext>
            </a:extLst>
          </p:cNvPr>
          <p:cNvSpPr/>
          <p:nvPr/>
        </p:nvSpPr>
        <p:spPr>
          <a:xfrm>
            <a:off x="497169" y="3153327"/>
            <a:ext cx="81462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90</a:t>
            </a: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7FC0074-FBEB-1E93-B4CE-BF568518F013}"/>
              </a:ext>
            </a:extLst>
          </p:cNvPr>
          <p:cNvSpPr/>
          <p:nvPr/>
        </p:nvSpPr>
        <p:spPr>
          <a:xfrm>
            <a:off x="497169" y="4283097"/>
            <a:ext cx="81462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34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2D7983D-FD95-FE0A-2433-48E2E15E83E4}"/>
              </a:ext>
            </a:extLst>
          </p:cNvPr>
          <p:cNvSpPr/>
          <p:nvPr/>
        </p:nvSpPr>
        <p:spPr>
          <a:xfrm>
            <a:off x="2335552" y="3153327"/>
            <a:ext cx="81462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135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30334AD-CA56-5897-613C-241DF014C817}"/>
              </a:ext>
            </a:extLst>
          </p:cNvPr>
          <p:cNvSpPr/>
          <p:nvPr/>
        </p:nvSpPr>
        <p:spPr>
          <a:xfrm>
            <a:off x="2335552" y="4283097"/>
            <a:ext cx="81462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34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C2F1936-50D0-0754-4D75-87F82C0511F2}"/>
              </a:ext>
            </a:extLst>
          </p:cNvPr>
          <p:cNvSpPr/>
          <p:nvPr/>
        </p:nvSpPr>
        <p:spPr>
          <a:xfrm>
            <a:off x="1274129" y="3689216"/>
            <a:ext cx="814627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vs.</a:t>
            </a: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11B6041-6868-9A90-0404-1A76DDD9576D}"/>
              </a:ext>
            </a:extLst>
          </p:cNvPr>
          <p:cNvSpPr/>
          <p:nvPr/>
        </p:nvSpPr>
        <p:spPr>
          <a:xfrm>
            <a:off x="207285" y="2221609"/>
            <a:ext cx="1468448" cy="87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2667"/>
              </a:lnSpc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Stream</a:t>
            </a:r>
          </a:p>
          <a:p>
            <a:pPr algn="ctr" defTabSz="1219140">
              <a:lnSpc>
                <a:spcPts val="2667"/>
              </a:lnSpc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links</a:t>
            </a: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F633B4D-6984-F1E1-ED35-C780302C990C}"/>
              </a:ext>
            </a:extLst>
          </p:cNvPr>
          <p:cNvSpPr/>
          <p:nvPr/>
        </p:nvSpPr>
        <p:spPr>
          <a:xfrm>
            <a:off x="1601004" y="2221609"/>
            <a:ext cx="2400835" cy="870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40">
              <a:lnSpc>
                <a:spcPts val="2667"/>
              </a:lnSpc>
              <a:defRPr/>
            </a:pPr>
            <a:r>
              <a:rPr lang="en-US" sz="3200" b="1" dirty="0">
                <a:solidFill>
                  <a:prstClr val="black"/>
                </a:solidFill>
                <a:latin typeface="Aptos" panose="02110004020202020204"/>
                <a:cs typeface="Arial" panose="020B0604020202020204" pitchFamily="34" charset="0"/>
              </a:rPr>
              <a:t>Sub-catchments</a:t>
            </a: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C5B3307-FB2B-22AA-9B93-6EEE9E437162}"/>
              </a:ext>
            </a:extLst>
          </p:cNvPr>
          <p:cNvSpPr/>
          <p:nvPr/>
        </p:nvSpPr>
        <p:spPr>
          <a:xfrm>
            <a:off x="2803528" y="5082347"/>
            <a:ext cx="1941853" cy="518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2667"/>
              </a:lnSpc>
              <a:defRPr/>
            </a:pPr>
            <a:r>
              <a:rPr lang="en-US" sz="3200" b="1" dirty="0" err="1">
                <a:solidFill>
                  <a:srgbClr val="0707F5"/>
                </a:solidFill>
                <a:latin typeface="Aptos" panose="02110004020202020204"/>
                <a:cs typeface="Arial" panose="020B0604020202020204" pitchFamily="34" charset="0"/>
              </a:rPr>
              <a:t>Flowpath</a:t>
            </a:r>
            <a:endParaRPr lang="en-US" sz="3200" b="1" dirty="0">
              <a:solidFill>
                <a:srgbClr val="0707F5"/>
              </a:solidFill>
              <a:latin typeface="Aptos" panose="02110004020202020204"/>
              <a:cs typeface="Arial" panose="020B0604020202020204" pitchFamily="34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B8E94F5-040A-8FF4-452E-A3DE7B8FFED8}"/>
              </a:ext>
            </a:extLst>
          </p:cNvPr>
          <p:cNvSpPr/>
          <p:nvPr/>
        </p:nvSpPr>
        <p:spPr>
          <a:xfrm>
            <a:off x="2803528" y="5594514"/>
            <a:ext cx="1609557" cy="518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2667"/>
              </a:lnSpc>
              <a:defRPr/>
            </a:pPr>
            <a:r>
              <a:rPr lang="en-US" sz="3200" b="1" dirty="0">
                <a:solidFill>
                  <a:srgbClr val="0707F5"/>
                </a:solidFill>
                <a:latin typeface="Aptos" panose="02110004020202020204"/>
                <a:cs typeface="Arial" panose="020B0604020202020204" pitchFamily="34" charset="0"/>
              </a:rPr>
              <a:t>Divide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F6FE28A-88E3-5F54-E864-C49B7AD0BF4A}"/>
              </a:ext>
            </a:extLst>
          </p:cNvPr>
          <p:cNvSpPr/>
          <p:nvPr/>
        </p:nvSpPr>
        <p:spPr>
          <a:xfrm>
            <a:off x="2803528" y="6055898"/>
            <a:ext cx="1609557" cy="518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40">
              <a:lnSpc>
                <a:spcPts val="2667"/>
              </a:lnSpc>
              <a:defRPr/>
            </a:pPr>
            <a:r>
              <a:rPr lang="en-US" sz="3200" b="1" dirty="0">
                <a:solidFill>
                  <a:srgbClr val="0707F5"/>
                </a:solidFill>
                <a:latin typeface="Aptos" panose="02110004020202020204"/>
                <a:cs typeface="Arial" panose="020B0604020202020204" pitchFamily="34" charset="0"/>
              </a:rPr>
              <a:t>Nexus</a:t>
            </a:r>
          </a:p>
        </p:txBody>
      </p:sp>
    </p:spTree>
    <p:extLst>
      <p:ext uri="{BB962C8B-B14F-4D97-AF65-F5344CB8AC3E}">
        <p14:creationId xmlns:p14="http://schemas.microsoft.com/office/powerpoint/2010/main" val="284430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5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23F002D-4AAC-FFAD-6480-2A5D7D5CD9F8}"/>
              </a:ext>
            </a:extLst>
          </p:cNvPr>
          <p:cNvSpPr/>
          <p:nvPr/>
        </p:nvSpPr>
        <p:spPr>
          <a:xfrm>
            <a:off x="5432077" y="1"/>
            <a:ext cx="6773779" cy="338838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2B7E5079-913B-5BE3-73F2-5363DE6D65FE}"/>
              </a:ext>
            </a:extLst>
          </p:cNvPr>
          <p:cNvSpPr/>
          <p:nvPr/>
        </p:nvSpPr>
        <p:spPr>
          <a:xfrm>
            <a:off x="5776101" y="230866"/>
            <a:ext cx="29399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2875" indent="-182875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 Muskingum-</a:t>
            </a:r>
            <a:r>
              <a:rPr lang="en-US" sz="2400" dirty="0" err="1">
                <a:latin typeface="Aptos" panose="020B0004020202020204" pitchFamily="34" charset="0"/>
              </a:rPr>
              <a:t>Cunge</a:t>
            </a:r>
            <a:endParaRPr lang="en-US" sz="2400" dirty="0">
              <a:latin typeface="Aptos" panose="020B00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0A5FAD5-DF06-D129-1050-D77AE1E20FE4}"/>
              </a:ext>
            </a:extLst>
          </p:cNvPr>
          <p:cNvGrpSpPr>
            <a:grpSpLocks noChangeAspect="1"/>
          </p:cNvGrpSpPr>
          <p:nvPr/>
        </p:nvGrpSpPr>
        <p:grpSpPr>
          <a:xfrm>
            <a:off x="5718342" y="945329"/>
            <a:ext cx="2442333" cy="1967485"/>
            <a:chOff x="5125037" y="1963414"/>
            <a:chExt cx="2349989" cy="1893095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7A62277-6FC5-ABFE-80B4-2384B2D66966}"/>
                </a:ext>
              </a:extLst>
            </p:cNvPr>
            <p:cNvGrpSpPr/>
            <p:nvPr/>
          </p:nvGrpSpPr>
          <p:grpSpPr>
            <a:xfrm>
              <a:off x="5125037" y="1963414"/>
              <a:ext cx="2349989" cy="1893095"/>
              <a:chOff x="50997" y="1057300"/>
              <a:chExt cx="2349989" cy="1893095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F9DFA1DA-C01D-909D-52B3-A8873CFACCEE}"/>
                  </a:ext>
                </a:extLst>
              </p:cNvPr>
              <p:cNvSpPr/>
              <p:nvPr/>
            </p:nvSpPr>
            <p:spPr>
              <a:xfrm>
                <a:off x="1320865" y="2065418"/>
                <a:ext cx="648071" cy="59264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3523A95A-582B-5B98-6C63-2B6046B3237E}"/>
                      </a:ext>
                    </a:extLst>
                  </p:cNvPr>
                  <p:cNvSpPr txBox="1"/>
                  <p:nvPr/>
                </p:nvSpPr>
                <p:spPr>
                  <a:xfrm>
                    <a:off x="1896931" y="2713484"/>
                    <a:ext cx="123576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3523A95A-582B-5B98-6C63-2B6046B3237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6931" y="2713484"/>
                    <a:ext cx="123576" cy="23691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38095" r="-23810" b="-243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F310786-E352-9F4A-5711-688C67581AC8}"/>
                  </a:ext>
                </a:extLst>
              </p:cNvPr>
              <p:cNvSpPr/>
              <p:nvPr/>
            </p:nvSpPr>
            <p:spPr>
              <a:xfrm>
                <a:off x="672794" y="2065418"/>
                <a:ext cx="648071" cy="59264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8E07055-6133-8078-2AE0-EC61E9CA4275}"/>
                  </a:ext>
                </a:extLst>
              </p:cNvPr>
              <p:cNvSpPr/>
              <p:nvPr/>
            </p:nvSpPr>
            <p:spPr>
              <a:xfrm>
                <a:off x="1320865" y="1472772"/>
                <a:ext cx="648071" cy="5926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B5D45496-CF6F-D5DE-6BDB-0FA23144B0B8}"/>
                  </a:ext>
                </a:extLst>
              </p:cNvPr>
              <p:cNvSpPr/>
              <p:nvPr/>
            </p:nvSpPr>
            <p:spPr>
              <a:xfrm>
                <a:off x="672794" y="1472772"/>
                <a:ext cx="648071" cy="59264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47C5CCAC-2684-B901-583A-9BAED13C5822}"/>
                      </a:ext>
                    </a:extLst>
                  </p:cNvPr>
                  <p:cNvSpPr txBox="1"/>
                  <p:nvPr/>
                </p:nvSpPr>
                <p:spPr>
                  <a:xfrm>
                    <a:off x="1116777" y="2713483"/>
                    <a:ext cx="468888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47C5CCAC-2684-B901-583A-9BAED13C582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777" y="2713483"/>
                    <a:ext cx="468888" cy="2369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750" r="-8750" b="-48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765D2892-477B-7F6F-A7C7-F2228AA1E61F}"/>
                      </a:ext>
                    </a:extLst>
                  </p:cNvPr>
                  <p:cNvSpPr txBox="1"/>
                  <p:nvPr/>
                </p:nvSpPr>
                <p:spPr>
                  <a:xfrm>
                    <a:off x="50997" y="1902345"/>
                    <a:ext cx="521637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𝑑𝑜𝑤𝑛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765D2892-477B-7F6F-A7C7-F2228AA1E6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997" y="1902345"/>
                    <a:ext cx="521637" cy="23691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8989" r="-7865" b="-48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4" name="TextBox 1023">
                    <a:extLst>
                      <a:ext uri="{FF2B5EF4-FFF2-40B4-BE49-F238E27FC236}">
                        <a16:creationId xmlns:a16="http://schemas.microsoft.com/office/drawing/2014/main" id="{5502BC45-2552-6516-9239-663FD34B6336}"/>
                      </a:ext>
                    </a:extLst>
                  </p:cNvPr>
                  <p:cNvSpPr txBox="1"/>
                  <p:nvPr/>
                </p:nvSpPr>
                <p:spPr>
                  <a:xfrm>
                    <a:off x="274348" y="1322419"/>
                    <a:ext cx="267698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b="0" i="1"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𝑢𝑝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024" name="TextBox 1023">
                    <a:extLst>
                      <a:ext uri="{FF2B5EF4-FFF2-40B4-BE49-F238E27FC236}">
                        <a16:creationId xmlns:a16="http://schemas.microsoft.com/office/drawing/2014/main" id="{5502BC45-2552-6516-9239-663FD34B63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4348" y="1322419"/>
                    <a:ext cx="267698" cy="23691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391" r="-15217" b="-243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25" name="Straight Arrow Connector 1024">
                <a:extLst>
                  <a:ext uri="{FF2B5EF4-FFF2-40B4-BE49-F238E27FC236}">
                    <a16:creationId xmlns:a16="http://schemas.microsoft.com/office/drawing/2014/main" id="{361BB438-5F61-5C32-0975-5EC527F597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794" y="2658058"/>
                <a:ext cx="172819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" name="Straight Arrow Connector 1026">
                <a:extLst>
                  <a:ext uri="{FF2B5EF4-FFF2-40B4-BE49-F238E27FC236}">
                    <a16:creationId xmlns:a16="http://schemas.microsoft.com/office/drawing/2014/main" id="{D9406B0D-51C9-1E12-594A-6F55F8CAC2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2794" y="1057300"/>
                <a:ext cx="0" cy="16007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9" name="Oval 1028">
              <a:extLst>
                <a:ext uri="{FF2B5EF4-FFF2-40B4-BE49-F238E27FC236}">
                  <a16:creationId xmlns:a16="http://schemas.microsoft.com/office/drawing/2014/main" id="{7A2095DD-0B52-9989-3DD1-D388FE3591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6151" y="2880086"/>
              <a:ext cx="182880" cy="18288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10AD4E73-9345-C19C-6396-4F6FEA8308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9942" y="2287443"/>
              <a:ext cx="182880" cy="1828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BFD05BC2-46DF-8104-6910-048802A2D27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509" y="2287443"/>
              <a:ext cx="182880" cy="1828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2947B2FA-1928-AA5C-B2AB-72661DFD2C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509" y="2880086"/>
              <a:ext cx="182880" cy="1828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727E1337-3E17-9F91-D5B4-0BFCDA6D8050}"/>
                  </a:ext>
                </a:extLst>
              </p:cNvPr>
              <p:cNvSpPr/>
              <p:nvPr/>
            </p:nvSpPr>
            <p:spPr>
              <a:xfrm>
                <a:off x="9047904" y="1913600"/>
                <a:ext cx="3095933" cy="5529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182875">
                  <a:spcBef>
                    <a:spcPts val="600"/>
                  </a:spcBef>
                </a:pPr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𝐶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𝑑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−</m:t>
                    </m:r>
                    <m:r>
                      <a:rPr lang="en-US" sz="200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1)+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𝑑𝑡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𝐷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55" name="Rectangle 1054">
                <a:extLst>
                  <a:ext uri="{FF2B5EF4-FFF2-40B4-BE49-F238E27FC236}">
                    <a16:creationId xmlns:a16="http://schemas.microsoft.com/office/drawing/2014/main" id="{727E1337-3E17-9F91-D5B4-0BFCDA6D80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7904" y="1913600"/>
                <a:ext cx="3095933" cy="552972"/>
              </a:xfrm>
              <a:prstGeom prst="rect">
                <a:avLst/>
              </a:prstGeom>
              <a:blipFill>
                <a:blip r:embed="rId7"/>
                <a:stretch>
                  <a:fillRect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A1098DD2-4D5F-95A5-8B7A-91BB12249DFF}"/>
                  </a:ext>
                </a:extLst>
              </p:cNvPr>
              <p:cNvSpPr/>
              <p:nvPr/>
            </p:nvSpPr>
            <p:spPr>
              <a:xfrm>
                <a:off x="8050886" y="1380788"/>
                <a:ext cx="1550764" cy="502920"/>
              </a:xfrm>
              <a:prstGeom prst="rect">
                <a:avLst/>
              </a:prstGeom>
            </p:spPr>
            <p:txBody>
              <a:bodyPr wrap="square" anchor="ctr" anchorCtr="0">
                <a:noAutofit/>
              </a:bodyPr>
              <a:lstStyle/>
              <a:p>
                <a:pPr indent="182875"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  <a:ea typeface="Batang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1056" name="Rectangle 1055">
                <a:extLst>
                  <a:ext uri="{FF2B5EF4-FFF2-40B4-BE49-F238E27FC236}">
                    <a16:creationId xmlns:a16="http://schemas.microsoft.com/office/drawing/2014/main" id="{A1098DD2-4D5F-95A5-8B7A-91BB12249D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886" y="1380788"/>
                <a:ext cx="1550764" cy="502920"/>
              </a:xfrm>
              <a:prstGeom prst="rect">
                <a:avLst/>
              </a:prstGeom>
              <a:blipFill>
                <a:blip r:embed="rId8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E06AA7-4240-8DF3-E468-A60A3EAF6C61}"/>
                  </a:ext>
                </a:extLst>
              </p:cNvPr>
              <p:cNvSpPr txBox="1"/>
              <p:nvPr/>
            </p:nvSpPr>
            <p:spPr>
              <a:xfrm>
                <a:off x="9178165" y="1413916"/>
                <a:ext cx="276934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𝑢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−</m:t>
                    </m:r>
                    <m:r>
                      <a:rPr lang="en-US" sz="200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1)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Batang" panose="02030600000101010101" pitchFamily="18" charset="-127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𝐶</m:t>
                        </m:r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𝑢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𝑡</m:t>
                    </m:r>
                    <m:r>
                      <a:rPr lang="en-US" sz="200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)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E06AA7-4240-8DF3-E468-A60A3EAF6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8165" y="1413916"/>
                <a:ext cx="2769345" cy="400110"/>
              </a:xfrm>
              <a:prstGeom prst="rect">
                <a:avLst/>
              </a:prstGeom>
              <a:blipFill>
                <a:blip r:embed="rId9"/>
                <a:stretch>
                  <a:fillRect t="-1060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5E9E8B31-35C4-05E9-1297-3CC4CAA0461E}"/>
              </a:ext>
            </a:extLst>
          </p:cNvPr>
          <p:cNvGrpSpPr/>
          <p:nvPr/>
        </p:nvGrpSpPr>
        <p:grpSpPr>
          <a:xfrm>
            <a:off x="5432077" y="3268578"/>
            <a:ext cx="6773779" cy="3589423"/>
            <a:chOff x="0" y="3268578"/>
            <a:chExt cx="6773779" cy="3589422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C6687C-F678-0969-A506-AB0A412AA23E}"/>
                </a:ext>
              </a:extLst>
            </p:cNvPr>
            <p:cNvSpPr/>
            <p:nvPr/>
          </p:nvSpPr>
          <p:spPr>
            <a:xfrm>
              <a:off x="0" y="3268578"/>
              <a:ext cx="6773779" cy="3589422"/>
            </a:xfrm>
            <a:prstGeom prst="rect">
              <a:avLst/>
            </a:prstGeom>
            <a:solidFill>
              <a:srgbClr val="BDD7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1DFD39-234A-9246-0317-0407CDE71B51}"/>
                </a:ext>
              </a:extLst>
            </p:cNvPr>
            <p:cNvSpPr/>
            <p:nvPr/>
          </p:nvSpPr>
          <p:spPr>
            <a:xfrm>
              <a:off x="344024" y="3419049"/>
              <a:ext cx="624172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82875" indent="-182875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Aptos" panose="020B0004020202020204" pitchFamily="34" charset="0"/>
                </a:rPr>
                <a:t> Hydraulic routing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E239FAA-1CAE-AA28-2A60-B015914C32B9}"/>
                </a:ext>
              </a:extLst>
            </p:cNvPr>
            <p:cNvGrpSpPr/>
            <p:nvPr/>
          </p:nvGrpSpPr>
          <p:grpSpPr>
            <a:xfrm>
              <a:off x="218160" y="4125474"/>
              <a:ext cx="5968365" cy="2644168"/>
              <a:chOff x="5175179" y="4220964"/>
              <a:chExt cx="5968365" cy="264416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1902A86E-4A1A-86E2-BF20-5343DDB984D0}"/>
                      </a:ext>
                    </a:extLst>
                  </p:cNvPr>
                  <p:cNvSpPr/>
                  <p:nvPr/>
                </p:nvSpPr>
                <p:spPr>
                  <a:xfrm>
                    <a:off x="5448650" y="4220964"/>
                    <a:ext cx="1918803" cy="502920"/>
                  </a:xfrm>
                  <a:prstGeom prst="rect">
                    <a:avLst/>
                  </a:prstGeom>
                </p:spPr>
                <p:txBody>
                  <a:bodyPr wrap="square" anchor="ctr" anchorCtr="0">
                    <a:noAutofit/>
                  </a:bodyPr>
                  <a:lstStyle/>
                  <a:p>
                    <a:pPr indent="182875">
                      <a:spcBef>
                        <a:spcPts val="6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2000" i="1" dirty="0">
                      <a:latin typeface="Cambria Math" panose="02040503050406030204" pitchFamily="18" charset="0"/>
                      <a:ea typeface="Batang" panose="02030600000101010101" pitchFamily="18" charset="-127"/>
                    </a:endParaRPr>
                  </a:p>
                </p:txBody>
              </p:sp>
            </mc:Choice>
            <mc:Fallback xmlns=""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1902A86E-4A1A-86E2-BF20-5343DDB984D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48650" y="4220964"/>
                    <a:ext cx="1918803" cy="50292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98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E67901C4-BDBF-3C71-2985-13BF2CCE74BB}"/>
                      </a:ext>
                    </a:extLst>
                  </p:cNvPr>
                  <p:cNvSpPr/>
                  <p:nvPr/>
                </p:nvSpPr>
                <p:spPr>
                  <a:xfrm>
                    <a:off x="5175179" y="5052568"/>
                    <a:ext cx="5968365" cy="502920"/>
                  </a:xfrm>
                  <a:prstGeom prst="rect">
                    <a:avLst/>
                  </a:prstGeom>
                </p:spPr>
                <p:txBody>
                  <a:bodyPr wrap="square" anchor="ctr" anchorCtr="0">
                    <a:noAutofit/>
                  </a:bodyPr>
                  <a:lstStyle/>
                  <a:p>
                    <a:pPr indent="182875">
                      <a:spcBef>
                        <a:spcPts val="600"/>
                      </a:spcBef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𝑔𝐴</m:t>
                          </m:r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𝑔𝐴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2000" i="1" dirty="0">
                      <a:latin typeface="Cambria Math" panose="02040503050406030204" pitchFamily="18" charset="0"/>
                      <a:ea typeface="Batang" panose="02030600000101010101" pitchFamily="18" charset="-127"/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E67901C4-BDBF-3C71-2985-13BF2CCE74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5179" y="5052568"/>
                    <a:ext cx="5968365" cy="5029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t="-11290" b="-177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8D596FD4-E062-B27C-C5AD-A27217C81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57269" y="5200269"/>
                <a:ext cx="0" cy="161342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D04512E-C63D-F076-5EC6-17BE1A2605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28969" y="5200269"/>
                <a:ext cx="0" cy="7552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173F312E-B078-6325-7A78-FAAB084790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6363" y="5200269"/>
                <a:ext cx="0" cy="161342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88B666E4-6AC0-E1DF-17A3-D2D64BF54B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9102" y="5200269"/>
                <a:ext cx="0" cy="119987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09445DE-64BF-90A8-8076-FA254A43B582}"/>
                  </a:ext>
                </a:extLst>
              </p:cNvPr>
              <p:cNvSpPr/>
              <p:nvPr/>
            </p:nvSpPr>
            <p:spPr>
              <a:xfrm>
                <a:off x="8921767" y="5617412"/>
                <a:ext cx="948295" cy="3879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>
                  <a:lnSpc>
                    <a:spcPts val="1067"/>
                  </a:lnSpc>
                </a:pPr>
                <a:r>
                  <a:rPr lang="en-US" sz="1400" dirty="0">
                    <a:solidFill>
                      <a:schemeClr val="tx1"/>
                    </a:solidFill>
                  </a:rPr>
                  <a:t>kinematic wave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50411BAB-F5B5-4AF6-E572-8123CCAFDB8F}"/>
                  </a:ext>
                </a:extLst>
              </p:cNvPr>
              <p:cNvSpPr/>
              <p:nvPr/>
            </p:nvSpPr>
            <p:spPr>
              <a:xfrm>
                <a:off x="8228777" y="6059279"/>
                <a:ext cx="1280200" cy="3879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400" dirty="0">
                    <a:solidFill>
                      <a:srgbClr val="C00000"/>
                    </a:solidFill>
                  </a:rPr>
                  <a:t>diffusive wave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653506B-EE84-4C1E-09B6-342D4BD7C68D}"/>
                  </a:ext>
                </a:extLst>
              </p:cNvPr>
              <p:cNvSpPr/>
              <p:nvPr/>
            </p:nvSpPr>
            <p:spPr>
              <a:xfrm>
                <a:off x="7439595" y="6477136"/>
                <a:ext cx="1280200" cy="38799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rIns="45720"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dynamic wave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9E4AE249-1635-EC1A-59A1-2182587AEB21}"/>
                  </a:ext>
                </a:extLst>
              </p:cNvPr>
              <p:cNvCxnSpPr>
                <a:cxnSpLocks/>
                <a:stCxn id="30" idx="3"/>
              </p:cNvCxnSpPr>
              <p:nvPr/>
            </p:nvCxnSpPr>
            <p:spPr>
              <a:xfrm>
                <a:off x="9870061" y="5811411"/>
                <a:ext cx="587209" cy="1121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ED39463-A87C-9090-BD53-8608CE0E4E85}"/>
                  </a:ext>
                </a:extLst>
              </p:cNvPr>
              <p:cNvCxnSpPr>
                <a:cxnSpLocks/>
                <a:stCxn id="30" idx="1"/>
              </p:cNvCxnSpPr>
              <p:nvPr/>
            </p:nvCxnSpPr>
            <p:spPr>
              <a:xfrm flipH="1" flipV="1">
                <a:off x="8438281" y="5811020"/>
                <a:ext cx="483487" cy="39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2C43FCF-3FFE-1207-257F-C78A39CA0E61}"/>
                  </a:ext>
                </a:extLst>
              </p:cNvPr>
              <p:cNvCxnSpPr>
                <a:cxnSpLocks/>
                <a:stCxn id="32" idx="3"/>
              </p:cNvCxnSpPr>
              <p:nvPr/>
            </p:nvCxnSpPr>
            <p:spPr>
              <a:xfrm flipV="1">
                <a:off x="9508977" y="6253071"/>
                <a:ext cx="948293" cy="205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233377C-BD10-41FE-3348-78405FEA144D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>
                <a:off x="7469102" y="6253276"/>
                <a:ext cx="759676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9535EEF-EA59-351F-CEA9-D4C7291DA6E6}"/>
                  </a:ext>
                </a:extLst>
              </p:cNvPr>
              <p:cNvCxnSpPr>
                <a:cxnSpLocks/>
                <a:stCxn id="33" idx="3"/>
              </p:cNvCxnSpPr>
              <p:nvPr/>
            </p:nvCxnSpPr>
            <p:spPr>
              <a:xfrm>
                <a:off x="8719795" y="6671135"/>
                <a:ext cx="17374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8ABFFB6B-D981-A3CE-1BB3-FC6BDDAB2C9A}"/>
                  </a:ext>
                </a:extLst>
              </p:cNvPr>
              <p:cNvCxnSpPr>
                <a:cxnSpLocks/>
                <a:stCxn id="33" idx="1"/>
              </p:cNvCxnSpPr>
              <p:nvPr/>
            </p:nvCxnSpPr>
            <p:spPr>
              <a:xfrm flipH="1">
                <a:off x="5636363" y="6671135"/>
                <a:ext cx="180323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34" name="Group 1033">
            <a:extLst>
              <a:ext uri="{FF2B5EF4-FFF2-40B4-BE49-F238E27FC236}">
                <a16:creationId xmlns:a16="http://schemas.microsoft.com/office/drawing/2014/main" id="{7AE4BA84-08F2-ABC9-2B81-E2B0AB32ED80}"/>
              </a:ext>
            </a:extLst>
          </p:cNvPr>
          <p:cNvGrpSpPr/>
          <p:nvPr/>
        </p:nvGrpSpPr>
        <p:grpSpPr>
          <a:xfrm>
            <a:off x="304745" y="1674718"/>
            <a:ext cx="4763025" cy="3367036"/>
            <a:chOff x="7271272" y="3123265"/>
            <a:chExt cx="4763025" cy="336703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C0CFDD7-9B63-A861-0564-93FE44F18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1272" y="3672335"/>
              <a:ext cx="4763025" cy="28179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ACB12EA-8976-119D-73FF-A14A3BDF56C3}"/>
                </a:ext>
              </a:extLst>
            </p:cNvPr>
            <p:cNvSpPr txBox="1"/>
            <p:nvPr/>
          </p:nvSpPr>
          <p:spPr>
            <a:xfrm>
              <a:off x="7545949" y="6047324"/>
              <a:ext cx="3230476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/>
                <a:t>http://bookofmormonresources.blogspot.com/2014/12/strahler-stream-order.html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8DFF1BA-D602-CA96-51F2-997DCC5BEF02}"/>
                </a:ext>
              </a:extLst>
            </p:cNvPr>
            <p:cNvSpPr/>
            <p:nvPr/>
          </p:nvSpPr>
          <p:spPr>
            <a:xfrm>
              <a:off x="8343349" y="3123265"/>
              <a:ext cx="205915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>
                  <a:latin typeface="Aptos" panose="020B0004020202020204" pitchFamily="34" charset="0"/>
                </a:rPr>
                <a:t>Hybrid routing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27FBB4C-5C2F-C6D4-C98E-C8E30EAFD655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/>
            <a:r>
              <a:rPr lang="en-US" sz="4800" b="1" dirty="0">
                <a:solidFill>
                  <a:schemeClr val="tx1"/>
                </a:solidFill>
                <a:latin typeface="Aptos" panose="020B0004020202020204" pitchFamily="34" charset="0"/>
              </a:rPr>
              <a:t>T-Route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4C7A101-F091-EDF1-E9CE-EB704A9499A3}"/>
              </a:ext>
            </a:extLst>
          </p:cNvPr>
          <p:cNvCxnSpPr>
            <a:cxnSpLocks/>
          </p:cNvCxnSpPr>
          <p:nvPr/>
        </p:nvCxnSpPr>
        <p:spPr>
          <a:xfrm flipH="1">
            <a:off x="3102321" y="603317"/>
            <a:ext cx="2717763" cy="1919583"/>
          </a:xfrm>
          <a:prstGeom prst="straightConnector1">
            <a:avLst/>
          </a:prstGeom>
          <a:ln>
            <a:solidFill>
              <a:srgbClr val="0000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D8DD9E5-9E71-911C-BBC3-F635965254F9}"/>
              </a:ext>
            </a:extLst>
          </p:cNvPr>
          <p:cNvCxnSpPr>
            <a:cxnSpLocks/>
          </p:cNvCxnSpPr>
          <p:nvPr/>
        </p:nvCxnSpPr>
        <p:spPr>
          <a:xfrm flipH="1">
            <a:off x="3493300" y="603317"/>
            <a:ext cx="2326785" cy="2220079"/>
          </a:xfrm>
          <a:prstGeom prst="straightConnector1">
            <a:avLst/>
          </a:prstGeom>
          <a:ln>
            <a:solidFill>
              <a:srgbClr val="0000FF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BD184B6-E0B5-7B80-01AC-57E64A6D5C98}"/>
              </a:ext>
            </a:extLst>
          </p:cNvPr>
          <p:cNvCxnSpPr>
            <a:cxnSpLocks/>
          </p:cNvCxnSpPr>
          <p:nvPr/>
        </p:nvCxnSpPr>
        <p:spPr>
          <a:xfrm flipH="1">
            <a:off x="3645031" y="3737795"/>
            <a:ext cx="2156757" cy="296812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364EBE7-A83D-CA05-DEF4-5AFD14D75B20}"/>
              </a:ext>
            </a:extLst>
          </p:cNvPr>
          <p:cNvCxnSpPr>
            <a:cxnSpLocks/>
          </p:cNvCxnSpPr>
          <p:nvPr/>
        </p:nvCxnSpPr>
        <p:spPr>
          <a:xfrm flipH="1" flipV="1">
            <a:off x="2571313" y="3522351"/>
            <a:ext cx="3230476" cy="21544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98091A-B514-CC03-C4D7-AC4528D5AA6D}"/>
              </a:ext>
            </a:extLst>
          </p:cNvPr>
          <p:cNvSpPr/>
          <p:nvPr/>
        </p:nvSpPr>
        <p:spPr>
          <a:xfrm>
            <a:off x="0" y="5397881"/>
            <a:ext cx="12192000" cy="11557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AF1BBF-D623-96CE-38E9-DF73FC861D0A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/>
            <a:r>
              <a:rPr lang="en-US" sz="4800" b="1" dirty="0">
                <a:solidFill>
                  <a:schemeClr val="tx1"/>
                </a:solidFill>
              </a:rPr>
              <a:t>Muskingum-</a:t>
            </a:r>
            <a:r>
              <a:rPr lang="en-US" sz="4800" b="1" dirty="0" err="1">
                <a:solidFill>
                  <a:schemeClr val="tx1"/>
                </a:solidFill>
              </a:rPr>
              <a:t>Cunge</a:t>
            </a:r>
            <a:r>
              <a:rPr lang="en-US" sz="4800" b="1" dirty="0">
                <a:solidFill>
                  <a:schemeClr val="tx1"/>
                </a:solidFill>
              </a:rPr>
              <a:t> (MC)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672A7E-091D-8A29-82D2-E26E07A5431B}"/>
                  </a:ext>
                </a:extLst>
              </p:cNvPr>
              <p:cNvSpPr txBox="1"/>
              <p:nvPr/>
            </p:nvSpPr>
            <p:spPr>
              <a:xfrm>
                <a:off x="3994736" y="1478959"/>
                <a:ext cx="7244403" cy="9117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133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133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i="1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133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r>
                              <a:rPr lang="en-US" sz="2133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133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133" i="1">
                                <a:latin typeface="Cambria Math" panose="02040503050406030204" pitchFamily="18" charset="0"/>
                              </a:rPr>
                              <m:t>)=</m:t>
                            </m:r>
                            <m:r>
                              <a:rPr lang="en-US" sz="2133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133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1</m:t>
                            </m:r>
                          </m:sub>
                        </m:sSub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𝑢</m:t>
                        </m:r>
                      </m:sub>
                    </m:sSub>
                    <m:r>
                      <a:rPr lang="en-US" sz="2133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r>
                      <a:rPr lang="en-US" sz="2133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𝑡</m:t>
                    </m:r>
                    <m:r>
                      <a:rPr lang="en-US" sz="2133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−</m:t>
                    </m:r>
                    <m:r>
                      <a:rPr lang="en-US" sz="2133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1)</m:t>
                    </m:r>
                  </m:oMath>
                </a14:m>
                <a:r>
                  <a:rPr lang="en-US" sz="2133" dirty="0">
                    <a:latin typeface="Times New Roman" panose="02020603050405020304" pitchFamily="18" charset="0"/>
                    <a:ea typeface="Batang" panose="02030600000101010101" pitchFamily="18" charset="-127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𝐶</m:t>
                        </m:r>
                      </m:e>
                      <m:sub>
                        <m:r>
                          <a:rPr lang="en-US" sz="2133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𝑢</m:t>
                        </m:r>
                      </m:sub>
                    </m:sSub>
                    <m:r>
                      <a:rPr lang="en-US" sz="2133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r>
                      <a:rPr lang="en-US" sz="2133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𝑡</m:t>
                    </m:r>
                    <m:r>
                      <a:rPr lang="en-US" sz="2133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)</m:t>
                    </m:r>
                  </m:oMath>
                </a14:m>
                <a:r>
                  <a:rPr lang="en-US" sz="2133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𝐶</m:t>
                        </m:r>
                      </m:e>
                      <m:sub>
                        <m:r>
                          <a:rPr lang="en-US" sz="2133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𝑑</m:t>
                        </m:r>
                      </m:sub>
                    </m:sSub>
                    <m:r>
                      <a:rPr lang="en-US" sz="2133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r>
                      <a:rPr lang="en-US" sz="2133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𝑡</m:t>
                    </m:r>
                    <m:r>
                      <a:rPr lang="en-US" sz="2133" i="1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−</m:t>
                    </m:r>
                    <m:r>
                      <a:rPr lang="en-US" sz="2133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1)+ </m:t>
                    </m:r>
                    <m:d>
                      <m:dPr>
                        <m:ctrlPr>
                          <a:rPr lang="en-US" sz="2133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133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133" i="1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</m:ctrlPr>
                              </m:sSubPr>
                              <m:e>
                                <m:r>
                                  <a:rPr lang="en-US" sz="2133" i="1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sz="2133" i="1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sz="2133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133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2133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𝐷</m:t>
                            </m:r>
                          </m:den>
                        </m:f>
                      </m:e>
                    </m:d>
                  </m:oMath>
                </a14:m>
                <a:endParaRPr lang="en-US" sz="2133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sz="2133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672A7E-091D-8A29-82D2-E26E07A5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736" y="1478959"/>
                <a:ext cx="7244403" cy="911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B60556A9-7B6D-B222-298B-E9CDCA7EB02B}"/>
              </a:ext>
            </a:extLst>
          </p:cNvPr>
          <p:cNvGrpSpPr>
            <a:grpSpLocks noChangeAspect="1"/>
          </p:cNvGrpSpPr>
          <p:nvPr/>
        </p:nvGrpSpPr>
        <p:grpSpPr>
          <a:xfrm>
            <a:off x="306628" y="1526033"/>
            <a:ext cx="2442333" cy="1967485"/>
            <a:chOff x="5125037" y="1963414"/>
            <a:chExt cx="2349989" cy="189309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341EDA9-B1DA-B193-F9DD-3B03953E7771}"/>
                </a:ext>
              </a:extLst>
            </p:cNvPr>
            <p:cNvGrpSpPr/>
            <p:nvPr/>
          </p:nvGrpSpPr>
          <p:grpSpPr>
            <a:xfrm>
              <a:off x="5125037" y="1963414"/>
              <a:ext cx="2349989" cy="1893095"/>
              <a:chOff x="50997" y="1057300"/>
              <a:chExt cx="2349989" cy="1893095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C5AB555-2D17-5C9E-BBC0-190A767C5CC6}"/>
                  </a:ext>
                </a:extLst>
              </p:cNvPr>
              <p:cNvSpPr/>
              <p:nvPr/>
            </p:nvSpPr>
            <p:spPr>
              <a:xfrm>
                <a:off x="1320865" y="2065418"/>
                <a:ext cx="648071" cy="59264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BFF5A5B-D721-87D9-DBA2-2E9F191A2EC1}"/>
                      </a:ext>
                    </a:extLst>
                  </p:cNvPr>
                  <p:cNvSpPr txBox="1"/>
                  <p:nvPr/>
                </p:nvSpPr>
                <p:spPr>
                  <a:xfrm>
                    <a:off x="1896931" y="2713484"/>
                    <a:ext cx="123576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CBFF5A5B-D721-87D9-DBA2-2E9F191A2E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6931" y="2713484"/>
                    <a:ext cx="123576" cy="23691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3333" r="-28571" b="-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B246D95-4B97-FE0C-EE9D-363750E3CD1F}"/>
                  </a:ext>
                </a:extLst>
              </p:cNvPr>
              <p:cNvSpPr/>
              <p:nvPr/>
            </p:nvSpPr>
            <p:spPr>
              <a:xfrm>
                <a:off x="672794" y="2065418"/>
                <a:ext cx="648071" cy="59264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CA21438-6D48-86BB-A184-AB230224F621}"/>
                  </a:ext>
                </a:extLst>
              </p:cNvPr>
              <p:cNvSpPr/>
              <p:nvPr/>
            </p:nvSpPr>
            <p:spPr>
              <a:xfrm>
                <a:off x="1320865" y="1472772"/>
                <a:ext cx="648071" cy="59264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1936DE2-A8F7-FD88-D231-EA56780D401A}"/>
                  </a:ext>
                </a:extLst>
              </p:cNvPr>
              <p:cNvSpPr/>
              <p:nvPr/>
            </p:nvSpPr>
            <p:spPr>
              <a:xfrm>
                <a:off x="672794" y="1472772"/>
                <a:ext cx="648071" cy="59264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prstDash val="lg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007D63C-DA31-9EC2-0017-DF7572E601E1}"/>
                      </a:ext>
                    </a:extLst>
                  </p:cNvPr>
                  <p:cNvSpPr txBox="1"/>
                  <p:nvPr/>
                </p:nvSpPr>
                <p:spPr>
                  <a:xfrm>
                    <a:off x="1116777" y="2713483"/>
                    <a:ext cx="468888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5007D63C-DA31-9EC2-0017-DF7572E601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6777" y="2713483"/>
                    <a:ext cx="468888" cy="23691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7500" r="-10000" b="-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498C3DB7-2D52-00B2-D155-144223658634}"/>
                      </a:ext>
                    </a:extLst>
                  </p:cNvPr>
                  <p:cNvSpPr txBox="1"/>
                  <p:nvPr/>
                </p:nvSpPr>
                <p:spPr>
                  <a:xfrm>
                    <a:off x="50997" y="1902345"/>
                    <a:ext cx="521637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𝑑𝑜𝑤𝑛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498C3DB7-2D52-00B2-D155-1442236586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997" y="1902345"/>
                    <a:ext cx="521637" cy="23691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8989" r="-7865" b="-487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4E215AE-E95D-B877-5757-CE748574310F}"/>
                      </a:ext>
                    </a:extLst>
                  </p:cNvPr>
                  <p:cNvSpPr txBox="1"/>
                  <p:nvPr/>
                </p:nvSpPr>
                <p:spPr>
                  <a:xfrm>
                    <a:off x="274348" y="1322419"/>
                    <a:ext cx="267698" cy="23691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>
                    <a:defPPr>
                      <a:defRPr lang="en-US"/>
                    </a:defPPr>
                    <a:lvl1pPr>
                      <a:defRPr b="0" i="1">
                        <a:latin typeface="Cambria Math" panose="02040503050406030204" pitchFamily="18" charset="0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>
                              <a:latin typeface="Cambria Math" panose="02040503050406030204" pitchFamily="18" charset="0"/>
                            </a:rPr>
                            <m:t>𝑢𝑝</m:t>
                          </m:r>
                        </m:oMath>
                      </m:oMathPara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A4E215AE-E95D-B877-5757-CE74857431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4348" y="1322419"/>
                    <a:ext cx="267698" cy="23691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391" r="-15217" b="-2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66CEDFC5-EF6C-BACB-F350-395779C7B9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794" y="2658058"/>
                <a:ext cx="172819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1388A41D-7206-20AC-BD45-1AFCA00DDD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2794" y="1057300"/>
                <a:ext cx="0" cy="16007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AC6C92-EF9C-5A06-430A-2E22EA3C7A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6151" y="2880086"/>
              <a:ext cx="182880" cy="18288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9138454-1EAD-37D1-B04F-6D969041A15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949942" y="2287443"/>
              <a:ext cx="182880" cy="1828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493A4FD-B28E-C7B5-80CA-F8353C1717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509" y="2287443"/>
              <a:ext cx="182880" cy="1828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E17F91B-5757-BAC3-7BBE-B311980007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7509" y="2880086"/>
              <a:ext cx="182880" cy="18288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E8306B-AD5A-160A-AF1E-8465ECF3ADC4}"/>
                  </a:ext>
                </a:extLst>
              </p:cNvPr>
              <p:cNvSpPr txBox="1"/>
              <p:nvPr/>
            </p:nvSpPr>
            <p:spPr>
              <a:xfrm>
                <a:off x="8064282" y="2984349"/>
                <a:ext cx="2955567" cy="1083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sSub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𝐶</m:t>
                          </m:r>
                        </m:e>
                        <m:sub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1</m:t>
                          </m:r>
                        </m:sub>
                      </m:sSub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fPr>
                        <m:num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𝐾𝑋</m:t>
                          </m:r>
                        </m:num>
                        <m:den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2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𝐾</m:t>
                          </m:r>
                          <m:d>
                            <m:dPr>
                              <m:ctrlP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1−</m:t>
                              </m:r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+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133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sz="2133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E8306B-AD5A-160A-AF1E-8465ECF3A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282" y="2984349"/>
                <a:ext cx="2955567" cy="10839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72E0E4-DDF5-0CB6-E9F2-BA670B18E98B}"/>
                  </a:ext>
                </a:extLst>
              </p:cNvPr>
              <p:cNvSpPr txBox="1"/>
              <p:nvPr/>
            </p:nvSpPr>
            <p:spPr>
              <a:xfrm>
                <a:off x="8064283" y="3920695"/>
                <a:ext cx="1377419" cy="748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sSub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𝐶</m:t>
                          </m:r>
                        </m:e>
                        <m:sub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2</m:t>
                          </m:r>
                        </m:sub>
                      </m:sSub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133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sz="2133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72E0E4-DDF5-0CB6-E9F2-BA670B18E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283" y="3920695"/>
                <a:ext cx="1377419" cy="748795"/>
              </a:xfrm>
              <a:prstGeom prst="rect">
                <a:avLst/>
              </a:prstGeom>
              <a:blipFill>
                <a:blip r:embed="rId9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B92787-3982-098E-059C-6C77A7A85746}"/>
                  </a:ext>
                </a:extLst>
              </p:cNvPr>
              <p:cNvSpPr txBox="1"/>
              <p:nvPr/>
            </p:nvSpPr>
            <p:spPr>
              <a:xfrm>
                <a:off x="8064283" y="4654916"/>
                <a:ext cx="1377419" cy="748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sSub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𝐶</m:t>
                          </m:r>
                        </m:e>
                        <m:sub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3</m:t>
                          </m:r>
                        </m:sub>
                      </m:sSub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133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US" sz="2133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8B92787-3982-098E-059C-6C77A7A85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283" y="4654916"/>
                <a:ext cx="1377419" cy="748795"/>
              </a:xfrm>
              <a:prstGeom prst="rect">
                <a:avLst/>
              </a:prstGeom>
              <a:blipFill>
                <a:blip r:embed="rId10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935E93-69FD-0272-EE3C-7CFD723EDA00}"/>
                  </a:ext>
                </a:extLst>
              </p:cNvPr>
              <p:cNvSpPr txBox="1"/>
              <p:nvPr/>
            </p:nvSpPr>
            <p:spPr>
              <a:xfrm>
                <a:off x="8064283" y="2364674"/>
                <a:ext cx="2955567" cy="420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𝑆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𝐾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𝑋𝐼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</m:ctrlPr>
                            </m:dPr>
                            <m:e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1−</m:t>
                              </m:r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𝑋</m:t>
                              </m:r>
                            </m:e>
                          </m:d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𝑂</m:t>
                          </m:r>
                        </m:e>
                      </m:d>
                    </m:oMath>
                  </m:oMathPara>
                </a14:m>
                <a:endParaRPr lang="en-US" sz="2133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935E93-69FD-0272-EE3C-7CFD723ED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283" y="2364674"/>
                <a:ext cx="2955567" cy="420564"/>
              </a:xfrm>
              <a:prstGeom prst="rect">
                <a:avLst/>
              </a:prstGeom>
              <a:blipFill>
                <a:blip r:embed="rId11"/>
                <a:stretch>
                  <a:fillRect l="-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8CE19448-F74F-86AC-1175-ACA99B61641D}"/>
              </a:ext>
            </a:extLst>
          </p:cNvPr>
          <p:cNvGrpSpPr/>
          <p:nvPr/>
        </p:nvGrpSpPr>
        <p:grpSpPr>
          <a:xfrm>
            <a:off x="3507861" y="2491427"/>
            <a:ext cx="3848760" cy="2424246"/>
            <a:chOff x="2158889" y="1619226"/>
            <a:chExt cx="2149498" cy="1300065"/>
          </a:xfrm>
        </p:grpSpPr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C7E5966A-AC53-8783-F7B5-7C9B8B779E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41957" y="1619226"/>
              <a:ext cx="2066430" cy="1220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EBD4F3-B47D-F48F-23E4-57FC0111B94A}"/>
                </a:ext>
              </a:extLst>
            </p:cNvPr>
            <p:cNvSpPr txBox="1"/>
            <p:nvPr/>
          </p:nvSpPr>
          <p:spPr>
            <a:xfrm>
              <a:off x="2158889" y="2840065"/>
              <a:ext cx="2066429" cy="79226"/>
            </a:xfrm>
            <a:prstGeom prst="rect">
              <a:avLst/>
            </a:prstGeom>
            <a:noFill/>
          </p:spPr>
          <p:txBody>
            <a:bodyPr wrap="square" lIns="60960" tIns="12192" rIns="60960" bIns="12192">
              <a:spAutoFit/>
            </a:bodyPr>
            <a:lstStyle/>
            <a:p>
              <a:pPr algn="ctr"/>
              <a:r>
                <a:rPr lang="en-US" sz="800" dirty="0"/>
                <a:t>https://ascelibrary.org/doi/10.1061/%28ASCE%29HE.1943-5584.0001507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819B92-7B1A-CE5C-5075-2F84D550F3B2}"/>
                  </a:ext>
                </a:extLst>
              </p:cNvPr>
              <p:cNvSpPr txBox="1"/>
              <p:nvPr/>
            </p:nvSpPr>
            <p:spPr>
              <a:xfrm>
                <a:off x="492545" y="5560201"/>
                <a:ext cx="3035580" cy="762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33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133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33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133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sz="2133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33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133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33" i="1"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sz="2133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f>
                            <m:fPr>
                              <m:ctrlPr>
                                <a:rPr lang="en-US" sz="2133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33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US" sz="2133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sSubSup>
                        <m:sSubSupPr>
                          <m:ctrlPr>
                            <a:rPr lang="en-US" sz="2133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sz="2133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33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133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</m:oMath>
                  </m:oMathPara>
                </a14:m>
                <a:endParaRPr lang="en-US" sz="2133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819B92-7B1A-CE5C-5075-2F84D550F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45" y="5560201"/>
                <a:ext cx="3035580" cy="76258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A39FE8-22BC-5336-C101-335B368D39D5}"/>
                  </a:ext>
                </a:extLst>
              </p:cNvPr>
              <p:cNvSpPr txBox="1"/>
              <p:nvPr/>
            </p:nvSpPr>
            <p:spPr>
              <a:xfrm>
                <a:off x="4007968" y="5724656"/>
                <a:ext cx="2171171" cy="420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sSub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𝑐</m:t>
                          </m:r>
                        </m:e>
                        <m:sub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𝑘</m:t>
                          </m:r>
                        </m:sub>
                      </m:sSub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𝑓</m:t>
                      </m:r>
                      <m:d>
                        <m:d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h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,⋯</m:t>
                          </m:r>
                        </m:e>
                      </m:d>
                    </m:oMath>
                  </m:oMathPara>
                </a14:m>
                <a:endParaRPr lang="en-US" sz="2133" i="1" dirty="0">
                  <a:latin typeface="Cambria Math" panose="02040503050406030204" pitchFamily="18" charset="0"/>
                  <a:ea typeface="Batang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DA39FE8-22BC-5336-C101-335B368D3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968" y="5724656"/>
                <a:ext cx="2171171" cy="420564"/>
              </a:xfrm>
              <a:prstGeom prst="rect">
                <a:avLst/>
              </a:prstGeom>
              <a:blipFill>
                <a:blip r:embed="rId14"/>
                <a:stretch>
                  <a:fillRect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C3034FE-657C-20AD-2979-B5D4AF652E02}"/>
                  </a:ext>
                </a:extLst>
              </p:cNvPr>
              <p:cNvSpPr txBox="1"/>
              <p:nvPr/>
            </p:nvSpPr>
            <p:spPr>
              <a:xfrm>
                <a:off x="6477000" y="5561077"/>
                <a:ext cx="2171171" cy="764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33" b="1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𝑲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f>
                        <m:f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fPr>
                        <m:num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sSub>
                            <m:sSubPr>
                              <m:ctrlP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133" i="1" dirty="0">
                  <a:latin typeface="Cambria Math" panose="02040503050406030204" pitchFamily="18" charset="0"/>
                  <a:ea typeface="Batang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C3034FE-657C-20AD-2979-B5D4AF652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5561077"/>
                <a:ext cx="2171171" cy="76495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109631-A491-D307-85D3-13AB0C76F401}"/>
                  </a:ext>
                </a:extLst>
              </p:cNvPr>
              <p:cNvSpPr txBox="1"/>
              <p:nvPr/>
            </p:nvSpPr>
            <p:spPr>
              <a:xfrm>
                <a:off x="9115379" y="5750056"/>
                <a:ext cx="2171171" cy="4205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33" b="1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𝑿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=</m:t>
                      </m:r>
                      <m:r>
                        <a:rPr lang="en-US" sz="2133" i="1">
                          <a:latin typeface="Cambria Math" panose="02040503050406030204" pitchFamily="18" charset="0"/>
                          <a:ea typeface="Batang" panose="02030600000101010101" pitchFamily="18" charset="-127"/>
                        </a:rPr>
                        <m:t>𝑓</m:t>
                      </m:r>
                      <m:d>
                        <m:dPr>
                          <m:ctrlP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</m:ctrlPr>
                        </m:dPr>
                        <m:e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h</m:t>
                          </m:r>
                          <m:r>
                            <a:rPr lang="en-US" sz="2133" i="1">
                              <a:latin typeface="Cambria Math" panose="02040503050406030204" pitchFamily="18" charset="0"/>
                              <a:ea typeface="Batang" panose="02030600000101010101" pitchFamily="18" charset="-127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2133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33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sz="2133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133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</m:ctrlPr>
                            </m:sSubPr>
                            <m:e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133" i="1">
                                  <a:latin typeface="Cambria Math" panose="02040503050406030204" pitchFamily="18" charset="0"/>
                                  <a:ea typeface="Batang" panose="02030600000101010101" pitchFamily="18" charset="-127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133" i="1" dirty="0">
                  <a:latin typeface="Cambria Math" panose="02040503050406030204" pitchFamily="18" charset="0"/>
                  <a:ea typeface="Batang" panose="02030600000101010101" pitchFamily="18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1109631-A491-D307-85D3-13AB0C76F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379" y="5750056"/>
                <a:ext cx="2171171" cy="420564"/>
              </a:xfrm>
              <a:prstGeom prst="rect">
                <a:avLst/>
              </a:prstGeom>
              <a:blipFill>
                <a:blip r:embed="rId16"/>
                <a:stretch>
                  <a:fillRect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309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2" grpId="0"/>
      <p:bldP spid="23" grpId="0"/>
      <p:bldP spid="24" grpId="0"/>
      <p:bldP spid="25" grpId="0"/>
      <p:bldP spid="3" grpId="0"/>
      <p:bldP spid="26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ADAF1579-9D5A-C5B5-7D48-22B69823E3B1}"/>
              </a:ext>
            </a:extLst>
          </p:cNvPr>
          <p:cNvSpPr/>
          <p:nvPr/>
        </p:nvSpPr>
        <p:spPr>
          <a:xfrm>
            <a:off x="0" y="5791075"/>
            <a:ext cx="12192000" cy="9022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8C72DA-D297-6A94-F3FA-A1F5D226D5F3}"/>
              </a:ext>
            </a:extLst>
          </p:cNvPr>
          <p:cNvSpPr/>
          <p:nvPr/>
        </p:nvSpPr>
        <p:spPr>
          <a:xfrm>
            <a:off x="0" y="276002"/>
            <a:ext cx="12192000" cy="7543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189"/>
            <a:r>
              <a:rPr lang="en-US" sz="4800" b="1" dirty="0">
                <a:solidFill>
                  <a:schemeClr val="tx1"/>
                </a:solidFill>
              </a:rPr>
              <a:t>Diffusive Wave (DW)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770EC8-95DB-F2A3-4EBD-5C64B77C61A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077008" y="2193929"/>
            <a:ext cx="30480" cy="26354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C74550DE-71A5-0C23-CDC1-C219C9C6DD3E}"/>
              </a:ext>
            </a:extLst>
          </p:cNvPr>
          <p:cNvSpPr/>
          <p:nvPr/>
        </p:nvSpPr>
        <p:spPr>
          <a:xfrm>
            <a:off x="5962344" y="2011048"/>
            <a:ext cx="243840" cy="2438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50BA03A-2183-FB88-0E7A-F13433EEA42F}"/>
              </a:ext>
            </a:extLst>
          </p:cNvPr>
          <p:cNvSpPr/>
          <p:nvPr/>
        </p:nvSpPr>
        <p:spPr>
          <a:xfrm>
            <a:off x="5973688" y="3466296"/>
            <a:ext cx="243840" cy="2438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D31B43-54DC-26DF-76ED-08106E7F52FD}"/>
              </a:ext>
            </a:extLst>
          </p:cNvPr>
          <p:cNvSpPr/>
          <p:nvPr/>
        </p:nvSpPr>
        <p:spPr>
          <a:xfrm>
            <a:off x="5985568" y="4829329"/>
            <a:ext cx="243840" cy="24384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>
              <a:defRPr/>
            </a:pPr>
            <a:endParaRPr lang="en-US" sz="2400">
              <a:solidFill>
                <a:prstClr val="white"/>
              </a:solidFill>
              <a:latin typeface="Aptos" panose="02110004020202020204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F61301C-3CB3-17EC-8B2F-EF28687D2D81}"/>
              </a:ext>
            </a:extLst>
          </p:cNvPr>
          <p:cNvCxnSpPr>
            <a:cxnSpLocks/>
          </p:cNvCxnSpPr>
          <p:nvPr/>
        </p:nvCxnSpPr>
        <p:spPr>
          <a:xfrm>
            <a:off x="5694277" y="2270129"/>
            <a:ext cx="0" cy="2536503"/>
          </a:xfrm>
          <a:prstGeom prst="straightConnector1">
            <a:avLst/>
          </a:prstGeom>
          <a:ln>
            <a:prstDash val="dash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9114DE-E5E8-EAFB-5206-6D3533476C99}"/>
                  </a:ext>
                </a:extLst>
              </p:cNvPr>
              <p:cNvSpPr txBox="1"/>
              <p:nvPr/>
            </p:nvSpPr>
            <p:spPr>
              <a:xfrm>
                <a:off x="4930902" y="3237696"/>
                <a:ext cx="543897" cy="66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09585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7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3733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9114DE-E5E8-EAFB-5206-6D3533476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0902" y="3237696"/>
                <a:ext cx="543897" cy="6667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1F4E9F-9830-BE9A-F5E8-F426B66C3F7E}"/>
              </a:ext>
            </a:extLst>
          </p:cNvPr>
          <p:cNvCxnSpPr>
            <a:cxnSpLocks/>
          </p:cNvCxnSpPr>
          <p:nvPr/>
        </p:nvCxnSpPr>
        <p:spPr>
          <a:xfrm flipV="1">
            <a:off x="6535147" y="2270128"/>
            <a:ext cx="0" cy="2535936"/>
          </a:xfrm>
          <a:prstGeom prst="straightConnector1">
            <a:avLst/>
          </a:prstGeom>
          <a:ln>
            <a:prstDash val="dash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050ACF-0617-41C6-BE16-0B0B694459FE}"/>
                  </a:ext>
                </a:extLst>
              </p:cNvPr>
              <p:cNvSpPr txBox="1"/>
              <p:nvPr/>
            </p:nvSpPr>
            <p:spPr>
              <a:xfrm>
                <a:off x="6687548" y="3237696"/>
                <a:ext cx="543897" cy="666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609585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7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3733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050ACF-0617-41C6-BE16-0B0B69445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548" y="3237696"/>
                <a:ext cx="543897" cy="666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DC79A31-06B4-DC17-904C-791A116DE2C1}"/>
                  </a:ext>
                </a:extLst>
              </p:cNvPr>
              <p:cNvSpPr txBox="1"/>
              <p:nvPr/>
            </p:nvSpPr>
            <p:spPr>
              <a:xfrm>
                <a:off x="415608" y="1272468"/>
                <a:ext cx="3801584" cy="9914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609585">
                  <a:lnSpc>
                    <a:spcPct val="115000"/>
                  </a:lnSpc>
                  <a:spcAft>
                    <a:spcPts val="1067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133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133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33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f>
                        <m:fPr>
                          <m:ctrlP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133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133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33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133" i="1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133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sz="2133" kern="1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en-US" sz="2133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133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133" i="1" kern="1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133" i="1" kern="1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sz="2133" i="1" kern="100" dirty="0">
                  <a:solidFill>
                    <a:prstClr val="black"/>
                  </a:solidFill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DC79A31-06B4-DC17-904C-791A116DE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08" y="1272468"/>
                <a:ext cx="3801584" cy="991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8CE352C-400E-FEA8-ED23-33E1F67AA22A}"/>
                  </a:ext>
                </a:extLst>
              </p:cNvPr>
              <p:cNvSpPr txBox="1"/>
              <p:nvPr/>
            </p:nvSpPr>
            <p:spPr>
              <a:xfrm>
                <a:off x="8494184" y="1272468"/>
                <a:ext cx="2394419" cy="7168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609585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133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133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133" dirty="0">
                  <a:solidFill>
                    <a:prstClr val="black"/>
                  </a:solidFill>
                  <a:latin typeface="Aptos" panose="02110004020202020204"/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8CE352C-400E-FEA8-ED23-33E1F67AA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184" y="1272468"/>
                <a:ext cx="2394419" cy="7168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D6604D3D-83F5-1CD2-8245-75560F08A0BE}"/>
              </a:ext>
            </a:extLst>
          </p:cNvPr>
          <p:cNvGrpSpPr/>
          <p:nvPr/>
        </p:nvGrpSpPr>
        <p:grpSpPr>
          <a:xfrm>
            <a:off x="7663244" y="2214530"/>
            <a:ext cx="4263449" cy="2693671"/>
            <a:chOff x="5747433" y="1660897"/>
            <a:chExt cx="3197587" cy="20202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AA17BC8-9930-2426-29B0-5E8F52E8E3D8}"/>
                    </a:ext>
                  </a:extLst>
                </p:cNvPr>
                <p:cNvSpPr txBox="1"/>
                <p:nvPr/>
              </p:nvSpPr>
              <p:spPr>
                <a:xfrm>
                  <a:off x="5747433" y="2308578"/>
                  <a:ext cx="3197587" cy="58496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33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133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133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2133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33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2133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133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  <m:r>
                          <a:rPr lang="en-US" sz="2133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2133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133" i="1" kern="10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sub>
                            </m:sSub>
                          </m:num>
                          <m:den>
                            <m:r>
                              <a:rPr lang="en-US" sz="2133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2133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EAA17BC8-9930-2426-29B0-5E8F52E8E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7433" y="2308578"/>
                  <a:ext cx="3197587" cy="5849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8AE98D17-E7A9-D8C3-E2D2-C4BBD1138ED9}"/>
                    </a:ext>
                  </a:extLst>
                </p:cNvPr>
                <p:cNvSpPr txBox="1"/>
                <p:nvPr/>
              </p:nvSpPr>
              <p:spPr>
                <a:xfrm>
                  <a:off x="5933407" y="3044725"/>
                  <a:ext cx="1153062" cy="6364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133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oMath>
                    </m:oMathPara>
                  </a14:m>
                  <a:endParaRPr lang="en-US" sz="2133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8AE98D17-E7A9-D8C3-E2D2-C4BBD1138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33407" y="3044725"/>
                  <a:ext cx="1153062" cy="63642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272CF3C-0310-DA23-4AEF-B87C70FE4B6D}"/>
                    </a:ext>
                  </a:extLst>
                </p:cNvPr>
                <p:cNvSpPr txBox="1"/>
                <p:nvPr/>
              </p:nvSpPr>
              <p:spPr>
                <a:xfrm>
                  <a:off x="7198292" y="3071980"/>
                  <a:ext cx="1548763" cy="5320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133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sSub>
                          <m:sSubPr>
                            <m:ctrlP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133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2/3</m:t>
                            </m:r>
                          </m:sup>
                        </m:sSubSup>
                      </m:oMath>
                    </m:oMathPara>
                  </a14:m>
                  <a:endParaRPr lang="en-US" sz="2133" dirty="0">
                    <a:solidFill>
                      <a:prstClr val="black"/>
                    </a:solidFill>
                    <a:latin typeface="Aptos" panose="02110004020202020204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272CF3C-0310-DA23-4AEF-B87C70FE4B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8292" y="3071980"/>
                  <a:ext cx="1548763" cy="5320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Arrow: Down 80">
              <a:extLst>
                <a:ext uri="{FF2B5EF4-FFF2-40B4-BE49-F238E27FC236}">
                  <a16:creationId xmlns:a16="http://schemas.microsoft.com/office/drawing/2014/main" id="{5D616FEA-F0E4-FC13-799C-DE8C0A24CE35}"/>
                </a:ext>
              </a:extLst>
            </p:cNvPr>
            <p:cNvSpPr/>
            <p:nvPr/>
          </p:nvSpPr>
          <p:spPr>
            <a:xfrm>
              <a:off x="7023128" y="1660897"/>
              <a:ext cx="353169" cy="519307"/>
            </a:xfrm>
            <a:prstGeom prst="downArrow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D2FA336-FAFA-0269-7DA8-7325C6158C21}"/>
                </a:ext>
              </a:extLst>
            </p:cNvPr>
            <p:cNvSpPr txBox="1"/>
            <p:nvPr/>
          </p:nvSpPr>
          <p:spPr>
            <a:xfrm>
              <a:off x="7299330" y="1688624"/>
              <a:ext cx="1364027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dirty="0"/>
                <a:t>Discretization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47A5B4D-AF47-C253-843A-750750A98416}"/>
              </a:ext>
            </a:extLst>
          </p:cNvPr>
          <p:cNvGrpSpPr/>
          <p:nvPr/>
        </p:nvGrpSpPr>
        <p:grpSpPr>
          <a:xfrm>
            <a:off x="7698334" y="4964954"/>
            <a:ext cx="4109716" cy="1646025"/>
            <a:chOff x="5773749" y="3723716"/>
            <a:chExt cx="3082287" cy="1234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B624BBC-1955-E1BD-93A5-41620BF4D308}"/>
                    </a:ext>
                  </a:extLst>
                </p:cNvPr>
                <p:cNvSpPr txBox="1"/>
                <p:nvPr/>
              </p:nvSpPr>
              <p:spPr>
                <a:xfrm>
                  <a:off x="5773749" y="4456992"/>
                  <a:ext cx="1491646" cy="5012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09585">
                    <a:lnSpc>
                      <a:spcPct val="115000"/>
                    </a:lnSpc>
                    <a:spcAft>
                      <a:spcPts val="1067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133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133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133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oMath>
                    </m:oMathPara>
                  </a14:m>
                  <a:endParaRPr lang="en-US" sz="2133" i="1" kern="100" dirty="0">
                    <a:solidFill>
                      <a:prstClr val="black"/>
                    </a:solidFill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CB624BBC-1955-E1BD-93A5-41620BF4D3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3749" y="4456992"/>
                  <a:ext cx="1491646" cy="50124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9CC3BB74-1B9F-D608-69CF-58376C098115}"/>
                    </a:ext>
                  </a:extLst>
                </p:cNvPr>
                <p:cNvSpPr txBox="1"/>
                <p:nvPr/>
              </p:nvSpPr>
              <p:spPr>
                <a:xfrm>
                  <a:off x="7307273" y="4456159"/>
                  <a:ext cx="1548763" cy="50124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09585">
                    <a:lnSpc>
                      <a:spcPct val="115000"/>
                    </a:lnSpc>
                    <a:spcAft>
                      <a:spcPts val="1067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133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sz="2133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133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oMath>
                    </m:oMathPara>
                  </a14:m>
                  <a:endParaRPr lang="en-US" sz="2133" i="1" kern="100" dirty="0">
                    <a:solidFill>
                      <a:prstClr val="black"/>
                    </a:solidFill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9CC3BB74-1B9F-D608-69CF-58376C0981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7273" y="4456159"/>
                  <a:ext cx="1548763" cy="50124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4" name="Arrow: Down 83">
              <a:extLst>
                <a:ext uri="{FF2B5EF4-FFF2-40B4-BE49-F238E27FC236}">
                  <a16:creationId xmlns:a16="http://schemas.microsoft.com/office/drawing/2014/main" id="{6B7F8DFE-4C61-3FA9-5195-CCB807B37862}"/>
                </a:ext>
              </a:extLst>
            </p:cNvPr>
            <p:cNvSpPr/>
            <p:nvPr/>
          </p:nvSpPr>
          <p:spPr>
            <a:xfrm>
              <a:off x="7049254" y="3858719"/>
              <a:ext cx="353169" cy="669543"/>
            </a:xfrm>
            <a:prstGeom prst="downArrow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A2C2651C-31BB-F1AA-A333-A9D8415B5C07}"/>
                </a:ext>
              </a:extLst>
            </p:cNvPr>
            <p:cNvSpPr txBox="1"/>
            <p:nvPr/>
          </p:nvSpPr>
          <p:spPr>
            <a:xfrm>
              <a:off x="7403836" y="3723716"/>
              <a:ext cx="1248179" cy="561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dirty="0"/>
                <a:t>Celerity and </a:t>
              </a:r>
            </a:p>
            <a:p>
              <a:r>
                <a:rPr lang="en-US" sz="2133" dirty="0"/>
                <a:t>Diffusivity</a:t>
              </a:r>
            </a:p>
          </p:txBody>
        </p:sp>
      </p:grp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D54333F6-700F-63E5-A1A3-5F68984991A7}"/>
              </a:ext>
            </a:extLst>
          </p:cNvPr>
          <p:cNvSpPr/>
          <p:nvPr/>
        </p:nvSpPr>
        <p:spPr>
          <a:xfrm rot="10800000">
            <a:off x="4992409" y="5997860"/>
            <a:ext cx="2106891" cy="473299"/>
          </a:xfrm>
          <a:prstGeom prst="rightArrow">
            <a:avLst>
              <a:gd name="adj1" fmla="val 50000"/>
              <a:gd name="adj2" fmla="val 103666"/>
            </a:avLst>
          </a:prstGeom>
          <a:solidFill>
            <a:schemeClr val="tx2">
              <a:lumMod val="25000"/>
              <a:lumOff val="75000"/>
            </a:schemeClr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57AD471-DC2A-12F0-67F5-3FC42B556134}"/>
              </a:ext>
            </a:extLst>
          </p:cNvPr>
          <p:cNvGrpSpPr/>
          <p:nvPr/>
        </p:nvGrpSpPr>
        <p:grpSpPr>
          <a:xfrm>
            <a:off x="540149" y="2214530"/>
            <a:ext cx="4434804" cy="4395296"/>
            <a:chOff x="405112" y="1660897"/>
            <a:chExt cx="3326103" cy="3296472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915087A-46EA-DDF7-69DA-EE83C65FABFA}"/>
                </a:ext>
              </a:extLst>
            </p:cNvPr>
            <p:cNvGrpSpPr/>
            <p:nvPr/>
          </p:nvGrpSpPr>
          <p:grpSpPr>
            <a:xfrm>
              <a:off x="408847" y="2035969"/>
              <a:ext cx="2847453" cy="1994871"/>
              <a:chOff x="201130" y="1052872"/>
              <a:chExt cx="2847453" cy="1994871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5268F3A-4E2C-05D7-265E-B79A41C768F7}"/>
                  </a:ext>
                </a:extLst>
              </p:cNvPr>
              <p:cNvGrpSpPr/>
              <p:nvPr/>
            </p:nvGrpSpPr>
            <p:grpSpPr>
              <a:xfrm>
                <a:off x="682651" y="1292036"/>
                <a:ext cx="1927516" cy="1515233"/>
                <a:chOff x="1928090" y="1476142"/>
                <a:chExt cx="2464926" cy="1885333"/>
              </a:xfrm>
            </p:grpSpPr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48A15B1F-3CBE-A758-8562-B21AD8F38F8B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928090" y="1476142"/>
                  <a:ext cx="2464926" cy="1885333"/>
                  <a:chOff x="5708650" y="510857"/>
                  <a:chExt cx="2419350" cy="1984693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86542373-79AD-A3E6-7CE0-4F47E3BA67B9}"/>
                      </a:ext>
                    </a:extLst>
                  </p:cNvPr>
                  <p:cNvGrpSpPr/>
                  <p:nvPr/>
                </p:nvGrpSpPr>
                <p:grpSpPr>
                  <a:xfrm>
                    <a:off x="5708650" y="510857"/>
                    <a:ext cx="2419350" cy="1984693"/>
                    <a:chOff x="4959350" y="510857"/>
                    <a:chExt cx="2419350" cy="1984693"/>
                  </a:xfrm>
                </p:grpSpPr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812C19BF-F9C7-6D20-5954-72A3454EC9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959350" y="510857"/>
                      <a:ext cx="14986" cy="1984693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8" name="Straight Arrow Connector 57">
                      <a:extLst>
                        <a:ext uri="{FF2B5EF4-FFF2-40B4-BE49-F238E27FC236}">
                          <a16:creationId xmlns:a16="http://schemas.microsoft.com/office/drawing/2014/main" id="{1BAD4176-E7F5-AF9D-B47E-876D28D8FEB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V="1">
                      <a:off x="6169025" y="1279525"/>
                      <a:ext cx="0" cy="2419350"/>
                    </a:xfrm>
                    <a:prstGeom prst="straightConnector1">
                      <a:avLst/>
                    </a:prstGeom>
                    <a:ln w="12700"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A5C770FB-9941-D86A-01A4-3350E9FA8BEA}"/>
                      </a:ext>
                    </a:extLst>
                  </p:cNvPr>
                  <p:cNvGrpSpPr/>
                  <p:nvPr/>
                </p:nvGrpSpPr>
                <p:grpSpPr>
                  <a:xfrm>
                    <a:off x="5727700" y="920750"/>
                    <a:ext cx="1878542" cy="1045634"/>
                    <a:chOff x="4978400" y="920750"/>
                    <a:chExt cx="2355850" cy="1045634"/>
                  </a:xfrm>
                </p:grpSpPr>
                <p:cxnSp>
                  <p:nvCxnSpPr>
                    <p:cNvPr id="54" name="Straight Connector 53">
                      <a:extLst>
                        <a:ext uri="{FF2B5EF4-FFF2-40B4-BE49-F238E27FC236}">
                          <a16:creationId xmlns:a16="http://schemas.microsoft.com/office/drawing/2014/main" id="{3050F93F-4795-0330-0D09-A339CA24C66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78400" y="920750"/>
                      <a:ext cx="2355850" cy="0"/>
                    </a:xfrm>
                    <a:prstGeom prst="line">
                      <a:avLst/>
                    </a:prstGeom>
                    <a:ln w="12700">
                      <a:prstDash val="sysDot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Straight Connector 54">
                      <a:extLst>
                        <a:ext uri="{FF2B5EF4-FFF2-40B4-BE49-F238E27FC236}">
                          <a16:creationId xmlns:a16="http://schemas.microsoft.com/office/drawing/2014/main" id="{33A4B466-D732-57AB-AD09-EB9C4EF9026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78400" y="1443567"/>
                      <a:ext cx="2355850" cy="0"/>
                    </a:xfrm>
                    <a:prstGeom prst="line">
                      <a:avLst/>
                    </a:prstGeom>
                    <a:ln w="12700">
                      <a:prstDash val="sysDot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" name="Straight Connector 55">
                      <a:extLst>
                        <a:ext uri="{FF2B5EF4-FFF2-40B4-BE49-F238E27FC236}">
                          <a16:creationId xmlns:a16="http://schemas.microsoft.com/office/drawing/2014/main" id="{7848961A-BF2E-4C34-EC85-CD55622404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978400" y="1966384"/>
                      <a:ext cx="2355850" cy="0"/>
                    </a:xfrm>
                    <a:prstGeom prst="line">
                      <a:avLst/>
                    </a:prstGeom>
                    <a:ln w="12700">
                      <a:prstDash val="sysDot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" name="Group 37">
                    <a:extLst>
                      <a:ext uri="{FF2B5EF4-FFF2-40B4-BE49-F238E27FC236}">
                        <a16:creationId xmlns:a16="http://schemas.microsoft.com/office/drawing/2014/main" id="{CE280DEF-251B-49C6-90DE-C921670E2D08}"/>
                      </a:ext>
                    </a:extLst>
                  </p:cNvPr>
                  <p:cNvGrpSpPr/>
                  <p:nvPr/>
                </p:nvGrpSpPr>
                <p:grpSpPr>
                  <a:xfrm>
                    <a:off x="6341181" y="664048"/>
                    <a:ext cx="1265061" cy="1831502"/>
                    <a:chOff x="5591881" y="139700"/>
                    <a:chExt cx="1265061" cy="2355850"/>
                  </a:xfrm>
                </p:grpSpPr>
                <p:cxnSp>
                  <p:nvCxnSpPr>
                    <p:cNvPr id="51" name="Straight Connector 50">
                      <a:extLst>
                        <a:ext uri="{FF2B5EF4-FFF2-40B4-BE49-F238E27FC236}">
                          <a16:creationId xmlns:a16="http://schemas.microsoft.com/office/drawing/2014/main" id="{A3A8D042-BBA7-3F4F-0934-D2B613BCD87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5679017" y="1317625"/>
                      <a:ext cx="2355850" cy="0"/>
                    </a:xfrm>
                    <a:prstGeom prst="line">
                      <a:avLst/>
                    </a:prstGeom>
                    <a:ln w="12700">
                      <a:prstDash val="sysDot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Connector 51">
                      <a:extLst>
                        <a:ext uri="{FF2B5EF4-FFF2-40B4-BE49-F238E27FC236}">
                          <a16:creationId xmlns:a16="http://schemas.microsoft.com/office/drawing/2014/main" id="{20CD0DF5-5A2B-ED85-FF72-63F2F9A8B88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5046487" y="1317625"/>
                      <a:ext cx="2355850" cy="0"/>
                    </a:xfrm>
                    <a:prstGeom prst="line">
                      <a:avLst/>
                    </a:prstGeom>
                    <a:ln w="12700">
                      <a:prstDash val="sysDot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Straight Connector 52">
                      <a:extLst>
                        <a:ext uri="{FF2B5EF4-FFF2-40B4-BE49-F238E27FC236}">
                          <a16:creationId xmlns:a16="http://schemas.microsoft.com/office/drawing/2014/main" id="{C0BCF3E3-8721-CE1F-F725-8315EC28585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4413956" y="1317625"/>
                      <a:ext cx="2355850" cy="0"/>
                    </a:xfrm>
                    <a:prstGeom prst="line">
                      <a:avLst/>
                    </a:prstGeom>
                    <a:ln w="12700">
                      <a:prstDash val="sysDot"/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DB2941C1-6498-45F8-DD44-4A0BA7FB82C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285802" y="1385204"/>
                    <a:ext cx="134624" cy="144389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19170">
                      <a:defRPr/>
                    </a:pPr>
                    <a:endParaRPr lang="en-US" sz="2133">
                      <a:solidFill>
                        <a:prstClr val="white"/>
                      </a:solidFill>
                      <a:latin typeface="Aptos" panose="02110004020202020204"/>
                    </a:endParaRPr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E7983269-CE1E-A697-7268-1ED40C0B1F5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287235" y="856170"/>
                    <a:ext cx="134624" cy="144389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19170">
                      <a:defRPr/>
                    </a:pPr>
                    <a:endParaRPr lang="en-US" sz="2133">
                      <a:solidFill>
                        <a:prstClr val="white"/>
                      </a:solidFill>
                      <a:latin typeface="Aptos" panose="02110004020202020204"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19BDA654-EFD6-A865-B7F4-B5722DAFFE4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914232" y="1370533"/>
                    <a:ext cx="134624" cy="144389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19170">
                      <a:defRPr/>
                    </a:pPr>
                    <a:endParaRPr lang="en-US" sz="2133">
                      <a:solidFill>
                        <a:prstClr val="white"/>
                      </a:solidFill>
                      <a:latin typeface="Aptos" panose="02110004020202020204"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DD2C95B9-F3FA-7EC5-9181-9A3D86DCD7A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7549420" y="864363"/>
                    <a:ext cx="134624" cy="144389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19170">
                      <a:defRPr/>
                    </a:pPr>
                    <a:endParaRPr lang="en-US" sz="2133">
                      <a:solidFill>
                        <a:prstClr val="white"/>
                      </a:solidFill>
                      <a:latin typeface="Aptos" panose="02110004020202020204"/>
                    </a:endParaRP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7D08197C-BAB4-53DB-7527-0F2DDC2639BE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901455" y="871606"/>
                    <a:ext cx="134624" cy="144389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 defTabSz="1219170">
                      <a:defRPr/>
                    </a:pPr>
                    <a:endParaRPr lang="en-US" sz="2133">
                      <a:solidFill>
                        <a:prstClr val="white"/>
                      </a:solidFill>
                      <a:latin typeface="Aptos" panose="02110004020202020204"/>
                    </a:endParaRPr>
                  </a:p>
                </p:txBody>
              </p:sp>
            </p:grp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5E0BED5A-2173-CD1C-CDFD-E49132E5C71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803535" y="2281429"/>
                  <a:ext cx="137160" cy="13716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 defTabSz="1219170">
                    <a:defRPr/>
                  </a:pPr>
                  <a:endParaRPr lang="en-US" sz="2133">
                    <a:solidFill>
                      <a:prstClr val="white"/>
                    </a:solidFill>
                    <a:latin typeface="Aptos" panose="02110004020202020204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828E153-E3F7-0AD8-1F62-5D2EA34F0874}"/>
                      </a:ext>
                    </a:extLst>
                  </p:cNvPr>
                  <p:cNvSpPr txBox="1"/>
                  <p:nvPr/>
                </p:nvSpPr>
                <p:spPr>
                  <a:xfrm>
                    <a:off x="782155" y="1292036"/>
                    <a:ext cx="393895" cy="2644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bSup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A828E153-E3F7-0AD8-1F62-5D2EA34F08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2155" y="1292036"/>
                    <a:ext cx="393895" cy="26449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0465" b="-70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ED96FDD-037A-E3F2-980A-B9B02540DACA}"/>
                      </a:ext>
                    </a:extLst>
                  </p:cNvPr>
                  <p:cNvSpPr txBox="1"/>
                  <p:nvPr/>
                </p:nvSpPr>
                <p:spPr>
                  <a:xfrm>
                    <a:off x="1313181" y="1292036"/>
                    <a:ext cx="437900" cy="2644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bSup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CED96FDD-037A-E3F2-980A-B9B02540DA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3181" y="1292036"/>
                    <a:ext cx="437900" cy="264496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70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A2F99D5E-0E81-B7B4-4D99-4290633A7C74}"/>
                      </a:ext>
                    </a:extLst>
                  </p:cNvPr>
                  <p:cNvSpPr txBox="1"/>
                  <p:nvPr/>
                </p:nvSpPr>
                <p:spPr>
                  <a:xfrm>
                    <a:off x="1808544" y="1292036"/>
                    <a:ext cx="437900" cy="26449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bSup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A2F99D5E-0E81-B7B4-4D99-4290633A7C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08544" y="1292036"/>
                    <a:ext cx="437900" cy="264496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70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2297F16-B381-F92C-F8D1-C05F04D3BB74}"/>
                      </a:ext>
                    </a:extLst>
                  </p:cNvPr>
                  <p:cNvSpPr txBox="1"/>
                  <p:nvPr/>
                </p:nvSpPr>
                <p:spPr>
                  <a:xfrm>
                    <a:off x="799134" y="1708871"/>
                    <a:ext cx="393895" cy="2545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A2297F16-B381-F92C-F8D1-C05F04D3BB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9134" y="1708871"/>
                    <a:ext cx="393895" cy="254541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B00A846-F7FE-7C89-0AAE-363EF6EB5A27}"/>
                      </a:ext>
                    </a:extLst>
                  </p:cNvPr>
                  <p:cNvSpPr txBox="1"/>
                  <p:nvPr/>
                </p:nvSpPr>
                <p:spPr>
                  <a:xfrm>
                    <a:off x="1350733" y="1723540"/>
                    <a:ext cx="437900" cy="2545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lang="en-US" sz="1867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0B00A846-F7FE-7C89-0AAE-363EF6EB5A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50733" y="1723540"/>
                    <a:ext cx="437900" cy="25454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5CD2B21-5B5F-30CA-9A95-4BD490760044}"/>
                      </a:ext>
                    </a:extLst>
                  </p:cNvPr>
                  <p:cNvSpPr txBox="1"/>
                  <p:nvPr/>
                </p:nvSpPr>
                <p:spPr>
                  <a:xfrm>
                    <a:off x="1797754" y="1708871"/>
                    <a:ext cx="437900" cy="25454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F5CD2B21-5B5F-30CA-9A95-4BD4907600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97754" y="1708871"/>
                    <a:ext cx="437900" cy="25454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727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8762A3B-30CC-F91B-1EEE-8049FFC0EF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458857" y="1944719"/>
                <a:ext cx="1" cy="13572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3EDB1354-71AC-158E-D63F-63C562CF456F}"/>
                      </a:ext>
                    </a:extLst>
                  </p:cNvPr>
                  <p:cNvSpPr txBox="1"/>
                  <p:nvPr/>
                </p:nvSpPr>
                <p:spPr>
                  <a:xfrm>
                    <a:off x="1307980" y="2044200"/>
                    <a:ext cx="344154" cy="2539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</m:sub>
                          </m:sSub>
                        </m:oMath>
                      </m:oMathPara>
                    </a14:m>
                    <a:endParaRPr lang="en-US" sz="2133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3EDB1354-71AC-158E-D63F-63C562CF45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7980" y="2044200"/>
                    <a:ext cx="344154" cy="253915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535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E8DF9A7E-CF26-D84B-AD85-8C25EAA57BA5}"/>
                  </a:ext>
                </a:extLst>
              </p:cNvPr>
              <p:cNvCxnSpPr/>
              <p:nvPr/>
            </p:nvCxnSpPr>
            <p:spPr>
              <a:xfrm>
                <a:off x="1186964" y="2710755"/>
                <a:ext cx="51371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54AE40EB-93BC-B284-C354-E2EF3DE61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00682" y="2710755"/>
                <a:ext cx="493791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00985BF4-8729-8181-3B2D-AC5E46737FF8}"/>
                  </a:ext>
                </a:extLst>
              </p:cNvPr>
              <p:cNvCxnSpPr/>
              <p:nvPr/>
            </p:nvCxnSpPr>
            <p:spPr>
              <a:xfrm>
                <a:off x="2357288" y="1604973"/>
                <a:ext cx="0" cy="428447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AF94D6F1-1DA4-79ED-0A2E-AB563CD5BCF0}"/>
                      </a:ext>
                    </a:extLst>
                  </p:cNvPr>
                  <p:cNvSpPr txBox="1"/>
                  <p:nvPr/>
                </p:nvSpPr>
                <p:spPr>
                  <a:xfrm>
                    <a:off x="2271289" y="1668444"/>
                    <a:ext cx="428878" cy="2847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867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1867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867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AF94D6F1-1DA4-79ED-0A2E-AB563CD5BC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71289" y="1668444"/>
                    <a:ext cx="428878" cy="28474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4098777-6802-70B7-5DEB-5030F5771D47}"/>
                      </a:ext>
                    </a:extLst>
                  </p:cNvPr>
                  <p:cNvSpPr txBox="1"/>
                  <p:nvPr/>
                </p:nvSpPr>
                <p:spPr>
                  <a:xfrm>
                    <a:off x="201130" y="1492061"/>
                    <a:ext cx="552417" cy="203132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A4098777-6802-70B7-5DEB-5030F5771D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130" y="1492061"/>
                    <a:ext cx="552417" cy="2031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76CF8C6-DD8F-E134-98C5-E75FF1074ABC}"/>
                      </a:ext>
                    </a:extLst>
                  </p:cNvPr>
                  <p:cNvSpPr txBox="1"/>
                  <p:nvPr/>
                </p:nvSpPr>
                <p:spPr>
                  <a:xfrm>
                    <a:off x="286855" y="1882586"/>
                    <a:ext cx="552417" cy="203132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576CF8C6-DD8F-E134-98C5-E75FF1074A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855" y="1882586"/>
                    <a:ext cx="552417" cy="2031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412FEF3-62A2-B091-DA92-400539693160}"/>
                      </a:ext>
                    </a:extLst>
                  </p:cNvPr>
                  <p:cNvSpPr txBox="1"/>
                  <p:nvPr/>
                </p:nvSpPr>
                <p:spPr>
                  <a:xfrm>
                    <a:off x="201130" y="2301686"/>
                    <a:ext cx="552417" cy="203132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9412FEF3-62A2-B091-DA92-4005396931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1130" y="2301686"/>
                    <a:ext cx="552417" cy="2031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00C6528-E847-92D4-C124-4FDFD0C2959D}"/>
                      </a:ext>
                    </a:extLst>
                  </p:cNvPr>
                  <p:cNvSpPr txBox="1"/>
                  <p:nvPr/>
                </p:nvSpPr>
                <p:spPr>
                  <a:xfrm>
                    <a:off x="915505" y="2844611"/>
                    <a:ext cx="552417" cy="203132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500C6528-E847-92D4-C124-4FDFD0C295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5505" y="2844611"/>
                    <a:ext cx="552417" cy="2031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F99AEC06-2468-5A0C-F5B4-F7CC86194B33}"/>
                      </a:ext>
                    </a:extLst>
                  </p:cNvPr>
                  <p:cNvSpPr txBox="1"/>
                  <p:nvPr/>
                </p:nvSpPr>
                <p:spPr>
                  <a:xfrm>
                    <a:off x="1410805" y="2844611"/>
                    <a:ext cx="552417" cy="203132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F99AEC06-2468-5A0C-F5B4-F7CC86194B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0805" y="2844611"/>
                    <a:ext cx="552417" cy="2031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5432D164-A11B-5FA3-F06B-18560FABFFAC}"/>
                      </a:ext>
                    </a:extLst>
                  </p:cNvPr>
                  <p:cNvSpPr txBox="1"/>
                  <p:nvPr/>
                </p:nvSpPr>
                <p:spPr>
                  <a:xfrm>
                    <a:off x="1918264" y="2844611"/>
                    <a:ext cx="552417" cy="203132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5432D164-A11B-5FA3-F06B-18560FABFF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18264" y="2844611"/>
                    <a:ext cx="552417" cy="2031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E329C598-8741-A353-5929-4D82CEB35371}"/>
                      </a:ext>
                    </a:extLst>
                  </p:cNvPr>
                  <p:cNvSpPr txBox="1"/>
                  <p:nvPr/>
                </p:nvSpPr>
                <p:spPr>
                  <a:xfrm>
                    <a:off x="2496166" y="2692686"/>
                    <a:ext cx="552417" cy="233959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67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en-US" sz="1867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E329C598-8741-A353-5929-4D82CEB353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96166" y="2692686"/>
                    <a:ext cx="552417" cy="233959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A12521AC-D376-0F2F-E85A-A194E6588736}"/>
                      </a:ext>
                    </a:extLst>
                  </p:cNvPr>
                  <p:cNvSpPr txBox="1"/>
                  <p:nvPr/>
                </p:nvSpPr>
                <p:spPr>
                  <a:xfrm>
                    <a:off x="418381" y="1052872"/>
                    <a:ext cx="552417" cy="233959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67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sz="1867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A12521AC-D376-0F2F-E85A-A194E6588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381" y="1052872"/>
                    <a:ext cx="552417" cy="23395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CD59B98D-6CFD-00C3-2697-38F21B474743}"/>
                      </a:ext>
                    </a:extLst>
                  </p:cNvPr>
                  <p:cNvSpPr txBox="1"/>
                  <p:nvPr/>
                </p:nvSpPr>
                <p:spPr>
                  <a:xfrm>
                    <a:off x="1182648" y="2471653"/>
                    <a:ext cx="552417" cy="217993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CD59B98D-6CFD-00C3-2697-38F21B4747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2648" y="2471653"/>
                    <a:ext cx="552417" cy="217993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b="-212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6C45AB2-4F68-8E34-F02B-85B2243DC2D1}"/>
                      </a:ext>
                    </a:extLst>
                  </p:cNvPr>
                  <p:cNvSpPr txBox="1"/>
                  <p:nvPr/>
                </p:nvSpPr>
                <p:spPr>
                  <a:xfrm>
                    <a:off x="1689366" y="2471653"/>
                    <a:ext cx="552417" cy="217993"/>
                  </a:xfrm>
                  <a:prstGeom prst="rect">
                    <a:avLst/>
                  </a:prstGeom>
                  <a:noFill/>
                </p:spPr>
                <p:txBody>
                  <a:bodyPr wrap="square" lIns="12192" tIns="12192" rIns="12192" bIns="12192" rtlCol="0">
                    <a:spAutoFit/>
                  </a:bodyPr>
                  <a:lstStyle/>
                  <a:p>
                    <a:pPr defTabSz="609585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n-US" sz="1600" dirty="0">
                      <a:solidFill>
                        <a:prstClr val="black"/>
                      </a:solidFill>
                      <a:latin typeface="Aptos" panose="02110004020202020204"/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F6C45AB2-4F68-8E34-F02B-85B2243DC2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89366" y="2471653"/>
                    <a:ext cx="552417" cy="217993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b="-212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1" name="Arrow: Down 70">
              <a:extLst>
                <a:ext uri="{FF2B5EF4-FFF2-40B4-BE49-F238E27FC236}">
                  <a16:creationId xmlns:a16="http://schemas.microsoft.com/office/drawing/2014/main" id="{D664E884-B3A5-7883-FDEF-C9A04E36963A}"/>
                </a:ext>
              </a:extLst>
            </p:cNvPr>
            <p:cNvSpPr/>
            <p:nvPr/>
          </p:nvSpPr>
          <p:spPr>
            <a:xfrm>
              <a:off x="1408955" y="1660897"/>
              <a:ext cx="353169" cy="519307"/>
            </a:xfrm>
            <a:prstGeom prst="downArrow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B94841B-3862-006E-F843-774378DA81C7}"/>
                </a:ext>
              </a:extLst>
            </p:cNvPr>
            <p:cNvSpPr txBox="1"/>
            <p:nvPr/>
          </p:nvSpPr>
          <p:spPr>
            <a:xfrm>
              <a:off x="1637950" y="1688624"/>
              <a:ext cx="2093265" cy="3154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33" dirty="0"/>
                <a:t>Crank-Nicolson (CNS)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5D46584-3053-6CB2-67E6-F56771E0478D}"/>
                    </a:ext>
                  </a:extLst>
                </p:cNvPr>
                <p:cNvSpPr txBox="1"/>
                <p:nvPr/>
              </p:nvSpPr>
              <p:spPr>
                <a:xfrm>
                  <a:off x="405112" y="4456992"/>
                  <a:ext cx="2851188" cy="5003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 defTabSz="609585">
                    <a:lnSpc>
                      <a:spcPct val="115000"/>
                    </a:lnSpc>
                    <a:spcAft>
                      <a:spcPts val="1067"/>
                    </a:spcAft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sz="2133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133" i="1" kern="1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b>
                                <m:r>
                                  <a:rPr lang="en-US" sz="2133" i="1" kern="1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𝑢𝑝</m:t>
                                </m:r>
                              </m:sub>
                            </m:sSub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133" i="1" kern="1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oMath>
                    </m:oMathPara>
                  </a14:m>
                  <a:endParaRPr lang="en-US" sz="2133" i="1" kern="100" dirty="0">
                    <a:solidFill>
                      <a:prstClr val="black"/>
                    </a:solidFill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55D46584-3053-6CB2-67E6-F56771E047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12" y="4456992"/>
                  <a:ext cx="2851188" cy="5003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Arrow: Down 86">
              <a:extLst>
                <a:ext uri="{FF2B5EF4-FFF2-40B4-BE49-F238E27FC236}">
                  <a16:creationId xmlns:a16="http://schemas.microsoft.com/office/drawing/2014/main" id="{FFB52FBC-D007-F1CD-CF2B-004E30A46D31}"/>
                </a:ext>
              </a:extLst>
            </p:cNvPr>
            <p:cNvSpPr/>
            <p:nvPr/>
          </p:nvSpPr>
          <p:spPr>
            <a:xfrm>
              <a:off x="1408955" y="4074412"/>
              <a:ext cx="353169" cy="453850"/>
            </a:xfrm>
            <a:prstGeom prst="downArrow">
              <a:avLst/>
            </a:prstGeom>
            <a:solidFill>
              <a:schemeClr val="tx2">
                <a:lumMod val="10000"/>
                <a:lumOff val="9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6057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70" grpId="0"/>
      <p:bldP spid="75" grpId="0"/>
      <p:bldP spid="8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0A09F6-1DCB-EA49-E118-E1E347FF308D}"/>
              </a:ext>
            </a:extLst>
          </p:cNvPr>
          <p:cNvSpPr/>
          <p:nvPr/>
        </p:nvSpPr>
        <p:spPr>
          <a:xfrm>
            <a:off x="6501028" y="3237642"/>
            <a:ext cx="5122113" cy="12971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 fontScale="92500"/>
          </a:bodyPr>
          <a:lstStyle/>
          <a:p>
            <a:pPr marL="457189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27B4FA-0BC8-5C2D-55DF-8D0BD70B367B}"/>
              </a:ext>
            </a:extLst>
          </p:cNvPr>
          <p:cNvSpPr txBox="1"/>
          <p:nvPr/>
        </p:nvSpPr>
        <p:spPr>
          <a:xfrm>
            <a:off x="1421429" y="5662603"/>
            <a:ext cx="1960792" cy="419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MSTHydroLab</a:t>
            </a:r>
          </a:p>
        </p:txBody>
      </p:sp>
      <p:pic>
        <p:nvPicPr>
          <p:cNvPr id="8" name="Picture 7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3E4BF6C4-F5F8-50CA-0F67-FDE6EA1E6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45" y="2005820"/>
            <a:ext cx="3621930" cy="362193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5493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1403</TotalTime>
  <Words>526</Words>
  <Application>Microsoft Office PowerPoint</Application>
  <PresentationFormat>Widescreen</PresentationFormat>
  <Paragraphs>119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Saiduzzaman, Md (S&amp;T-Student)</dc:creator>
  <cp:lastModifiedBy>Saiduzzaman, Md (S&amp;T-Student)</cp:lastModifiedBy>
  <cp:revision>14</cp:revision>
  <dcterms:created xsi:type="dcterms:W3CDTF">2026-07-08T15:21:36Z</dcterms:created>
  <dcterms:modified xsi:type="dcterms:W3CDTF">2026-07-15T03:08:22Z</dcterms:modified>
</cp:coreProperties>
</file>