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108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A754-6432-400C-8E37-76AB62E206D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DEE0-F497-408D-ACB9-82CC2490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5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CFCB-A0AE-1B1A-932C-E17436B63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5A5FA-0703-ED09-5F80-C4C0296E6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A477-9EC3-549A-D917-B035E1E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760B-1A90-CE5A-D83F-588CC8B5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9307-9997-4918-E938-BCA552F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8CE8-78B0-EF8D-E637-D38D610C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588F-0D1F-7C39-C67D-B8E134C25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7CE-7348-944D-D5D0-FEC25D8D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0B576-AE2D-ED40-4471-A12A6B5D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5D6C1-6BD8-891C-54F9-647E538C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3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E4FD-507B-BB2B-F66B-E04A94B7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FF08-5812-C1F1-A801-7B4DC55E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73E8-1ED2-B064-E7BF-C110B4BE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A68F-6073-8CAB-86AF-F8FAD215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C0D14-3B00-1201-0757-BBF76B96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8190-FD1A-930D-8D99-06B368A4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D1FB-5F0C-D7AF-22E6-B3A8CED33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1B56E-2B35-801E-0696-D101D7C5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B546-6383-4813-7B07-327B6283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178E-B358-4418-6C5F-1D49A0C1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509C9-3846-6C40-CB8C-DB111FDC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BE8A-6546-00EC-D402-F06E1E4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124B6-8F19-9FC7-003E-BE0C3B9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434F-006E-C408-32DB-A8B4D937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AF78E-AC25-9005-F6E7-F4990E0A5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E544D-076D-A9C5-83E0-A0A38B065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C3290-D7C5-9D95-B217-2B47061F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C6C1A-6CDD-4AF1-F77B-4573495C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F45CC-1F8E-F5BF-C2F1-49CB5B3B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516A-AAF6-F470-F1DE-C6C136D5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5720D-578F-7524-83D3-F1EED2E9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16D78-A981-2837-9AF7-5CD6D77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04885-F7AF-78C0-951A-C212876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66F42-BD22-B27A-E822-DF3EDD34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66236-7B8E-C7E2-07D3-81610983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51E-1D96-3370-4848-F4EB7813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AFE5-4105-B8C5-F84C-A7F16F75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B2-5BAF-9DD6-F31F-8BF68C2F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66FA9-3144-6B93-EEFF-FADEA248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E93E1-56A9-3E5A-A80D-5C2AE534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A094-9183-8996-91F4-92F10732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88ABF-FFA7-9032-1404-73D451B6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0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C70C-0E75-158A-447B-DC3DDFED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CC263-67B2-DFCD-2586-808DD4F38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52A0-5A90-4EA8-83F4-195DC772F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879AB-07D9-7B48-BDAB-A485F2C3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EE7C3-D762-3B98-05EC-4F28CB0B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5038D-7AEF-6235-D96E-8471BDB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9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7C7-EAE3-5548-A8BA-45963D44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20FD7-79BA-B899-E7A2-C1B1412E8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06E7-80C1-DAD7-8F3A-DE20CC3F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C39D7-405C-49FF-1C1F-6D762F11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2DCC-D5F8-F419-4A23-CE26EE6C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DA7C0-7FE0-A6B5-A062-4F0ECB03B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4F6D-8758-2823-D914-9C228249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F1DC-99CE-D3E1-E1B8-EFEFDA1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3DCD6-142C-E40A-F947-84EE2B92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0B6F-18E6-2B15-0B17-1AD4E86F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482F5-78E6-301D-2210-EDB3E985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A837E-255F-2CA1-8FB3-B984EA40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B13C-96FF-5C3A-822E-91CED11F5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F464-92D4-D9A6-21C2-8768D8EE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8160-3CC7-730A-A96F-62C6E3A8F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jpg"/><Relationship Id="rId10" Type="http://schemas.openxmlformats.org/officeDocument/2006/relationships/image" Target="../media/image15.jpeg"/><Relationship Id="rId4" Type="http://schemas.openxmlformats.org/officeDocument/2006/relationships/image" Target="../media/image13.jpg"/><Relationship Id="rId9" Type="http://schemas.openxmlformats.org/officeDocument/2006/relationships/image" Target="../media/image18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erial view of valley map">
            <a:extLst>
              <a:ext uri="{FF2B5EF4-FFF2-40B4-BE49-F238E27FC236}">
                <a16:creationId xmlns:a16="http://schemas.microsoft.com/office/drawing/2014/main" id="{E49E72DD-0586-3EB4-DC24-1FEC9C539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31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42DCC3-5F56-7069-53A2-088C86985486}"/>
              </a:ext>
            </a:extLst>
          </p:cNvPr>
          <p:cNvSpPr txBox="1"/>
          <p:nvPr/>
        </p:nvSpPr>
        <p:spPr>
          <a:xfrm>
            <a:off x="0" y="1196980"/>
            <a:ext cx="1218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Session 4: T-Route Configuration and open-loop Simulation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C92744-3B93-C71D-909C-2184BF69E1A7}"/>
              </a:ext>
            </a:extLst>
          </p:cNvPr>
          <p:cNvSpPr txBox="1"/>
          <p:nvPr/>
        </p:nvSpPr>
        <p:spPr>
          <a:xfrm>
            <a:off x="0" y="3912103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Md Saiduzzaman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2B3F03-5778-6558-3E3C-E6C81C45A6E0}"/>
              </a:ext>
            </a:extLst>
          </p:cNvPr>
          <p:cNvSpPr txBox="1"/>
          <p:nvPr/>
        </p:nvSpPr>
        <p:spPr>
          <a:xfrm>
            <a:off x="0" y="5020081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July 15, </a:t>
            </a:r>
            <a:r>
              <a:rPr lang="en-US" sz="4000" b="1" dirty="0">
                <a:solidFill>
                  <a:schemeClr val="bg1"/>
                </a:solidFill>
              </a:rPr>
              <a:t>2026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A0D6B0-C7B3-D714-4523-4282818ED9ED}"/>
              </a:ext>
            </a:extLst>
          </p:cNvPr>
          <p:cNvSpPr txBox="1"/>
          <p:nvPr/>
        </p:nvSpPr>
        <p:spPr>
          <a:xfrm>
            <a:off x="-4571" y="-1672"/>
            <a:ext cx="1218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T-Route </a:t>
            </a:r>
            <a:r>
              <a:rPr lang="en-US" b="1" dirty="0">
                <a:solidFill>
                  <a:schemeClr val="bg1"/>
                </a:solidFill>
              </a:rPr>
              <a:t>Workshop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2" name="image2.png">
            <a:extLst>
              <a:ext uri="{FF2B5EF4-FFF2-40B4-BE49-F238E27FC236}">
                <a16:creationId xmlns:a16="http://schemas.microsoft.com/office/drawing/2014/main" id="{41E75F24-214A-606A-BFAB-3F2A1CCB4E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06999" y="5805007"/>
            <a:ext cx="914400" cy="914400"/>
          </a:xfrm>
          <a:prstGeom prst="rect">
            <a:avLst/>
          </a:prstGeom>
          <a:ln/>
        </p:spPr>
      </p:pic>
      <p:pic>
        <p:nvPicPr>
          <p:cNvPr id="43" name="image1.png">
            <a:extLst>
              <a:ext uri="{FF2B5EF4-FFF2-40B4-BE49-F238E27FC236}">
                <a16:creationId xmlns:a16="http://schemas.microsoft.com/office/drawing/2014/main" id="{C637E70E-3A92-7C62-A218-751DE77952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2200" y="5805007"/>
            <a:ext cx="914400" cy="914400"/>
          </a:xfrm>
          <a:prstGeom prst="rect">
            <a:avLst/>
          </a:prstGeom>
          <a:ln/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28359388-FC06-5C9A-8FA1-808D3FE3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9" y="5805007"/>
            <a:ext cx="112289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85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336D1E-99C2-136E-8CD1-423698490B2F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Open-loop Simulation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2597CD-F5A1-A0DB-D124-269BD49D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60" y="2174238"/>
            <a:ext cx="2002629" cy="229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AB4AC39-F858-3054-1B69-477FEA5824F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0584" t="6528" r="5911" b="1250"/>
          <a:stretch>
            <a:fillRect/>
          </a:stretch>
        </p:blipFill>
        <p:spPr>
          <a:xfrm>
            <a:off x="568032" y="1757985"/>
            <a:ext cx="1043888" cy="1048625"/>
          </a:xfrm>
          <a:prstGeom prst="rect">
            <a:avLst/>
          </a:prstGeom>
        </p:spPr>
      </p:pic>
      <p:pic>
        <p:nvPicPr>
          <p:cNvPr id="34" name="Picture 33" descr="A diagram of a process&#10;&#10;AI-generated content may be incorrect.">
            <a:extLst>
              <a:ext uri="{FF2B5EF4-FFF2-40B4-BE49-F238E27FC236}">
                <a16:creationId xmlns:a16="http://schemas.microsoft.com/office/drawing/2014/main" id="{4425051E-8648-E172-5AFC-E410DFB6F6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0" t="10173" r="4954" b="2187"/>
          <a:stretch>
            <a:fillRect/>
          </a:stretch>
        </p:blipFill>
        <p:spPr>
          <a:xfrm>
            <a:off x="1893747" y="3560681"/>
            <a:ext cx="1151303" cy="1162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A5CEF0-3145-440B-E594-313AD83E98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92" r="3115" b="9574"/>
          <a:stretch>
            <a:fillRect/>
          </a:stretch>
        </p:blipFill>
        <p:spPr>
          <a:xfrm>
            <a:off x="8769529" y="1799200"/>
            <a:ext cx="2855149" cy="9661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6B7960-C286-9F9B-9DE1-EDA5352D2170}"/>
              </a:ext>
            </a:extLst>
          </p:cNvPr>
          <p:cNvSpPr txBox="1"/>
          <p:nvPr/>
        </p:nvSpPr>
        <p:spPr>
          <a:xfrm>
            <a:off x="5651759" y="1215902"/>
            <a:ext cx="677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C48FC-613B-A196-D1FB-634DC3A5BE14}"/>
              </a:ext>
            </a:extLst>
          </p:cNvPr>
          <p:cNvSpPr txBox="1"/>
          <p:nvPr/>
        </p:nvSpPr>
        <p:spPr>
          <a:xfrm>
            <a:off x="9713932" y="5275730"/>
            <a:ext cx="137644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Hydrofabric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3D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E5F9FF-4642-0A38-F7E2-AAB8B5390585}"/>
              </a:ext>
            </a:extLst>
          </p:cNvPr>
          <p:cNvSpPr txBox="1"/>
          <p:nvPr/>
        </p:nvSpPr>
        <p:spPr>
          <a:xfrm>
            <a:off x="5651759" y="3561791"/>
            <a:ext cx="726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FD6D91-CE33-8728-845D-474239DD404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4" b="10744"/>
          <a:stretch/>
        </p:blipFill>
        <p:spPr>
          <a:xfrm>
            <a:off x="3475875" y="1554456"/>
            <a:ext cx="5240959" cy="16459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1C14E3-3A25-292F-43D2-A9E0E3F02FA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4" b="10744"/>
          <a:stretch/>
        </p:blipFill>
        <p:spPr>
          <a:xfrm>
            <a:off x="3475165" y="3901456"/>
            <a:ext cx="5241669" cy="16461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A9BFA0-06C8-C851-03FB-E9E1964F08C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82805" y="4056835"/>
            <a:ext cx="2038701" cy="120447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DDEE59F-7424-EFE7-155F-2A498F54A12E}"/>
              </a:ext>
            </a:extLst>
          </p:cNvPr>
          <p:cNvSpPr/>
          <p:nvPr/>
        </p:nvSpPr>
        <p:spPr>
          <a:xfrm rot="19323999">
            <a:off x="2957579" y="2793389"/>
            <a:ext cx="736095" cy="41284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9E82133-8066-C699-3ADF-E9DE0A2FE24A}"/>
              </a:ext>
            </a:extLst>
          </p:cNvPr>
          <p:cNvSpPr/>
          <p:nvPr/>
        </p:nvSpPr>
        <p:spPr>
          <a:xfrm rot="1679723">
            <a:off x="3050350" y="3742481"/>
            <a:ext cx="736095" cy="41284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329FD-0B56-C127-541D-40B19EBE2DCE}"/>
              </a:ext>
            </a:extLst>
          </p:cNvPr>
          <p:cNvSpPr txBox="1"/>
          <p:nvPr/>
        </p:nvSpPr>
        <p:spPr>
          <a:xfrm>
            <a:off x="9516157" y="2748970"/>
            <a:ext cx="1610297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Flowpaths</a:t>
            </a:r>
            <a:r>
              <a:rPr kumimoji="0" 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Attributes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D84AFC-0275-1DE3-A386-FAE745DD02A1}"/>
              </a:ext>
            </a:extLst>
          </p:cNvPr>
          <p:cNvSpPr/>
          <p:nvPr/>
        </p:nvSpPr>
        <p:spPr>
          <a:xfrm>
            <a:off x="1611920" y="1160401"/>
            <a:ext cx="10012048" cy="45371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9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C4FB-93AC-ABF6-40E9-2A411437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6ED0EB6-6D2A-069B-0B1F-71ACA75F637E}"/>
              </a:ext>
            </a:extLst>
          </p:cNvPr>
          <p:cNvGrpSpPr/>
          <p:nvPr/>
        </p:nvGrpSpPr>
        <p:grpSpPr>
          <a:xfrm>
            <a:off x="6710232" y="997906"/>
            <a:ext cx="4282587" cy="4083448"/>
            <a:chOff x="4899324" y="1048467"/>
            <a:chExt cx="3211940" cy="3062586"/>
          </a:xfrm>
        </p:grpSpPr>
        <p:sp>
          <p:nvSpPr>
            <p:cNvPr id="1028" name="Arrow: Right 1027">
              <a:extLst>
                <a:ext uri="{FF2B5EF4-FFF2-40B4-BE49-F238E27FC236}">
                  <a16:creationId xmlns:a16="http://schemas.microsoft.com/office/drawing/2014/main" id="{4718ACCE-ABD5-515F-105E-C5D2ACB2B17F}"/>
                </a:ext>
              </a:extLst>
            </p:cNvPr>
            <p:cNvSpPr/>
            <p:nvPr/>
          </p:nvSpPr>
          <p:spPr>
            <a:xfrm rot="19061828">
              <a:off x="4899324" y="3710514"/>
              <a:ext cx="2141973" cy="400539"/>
            </a:xfrm>
            <a:prstGeom prst="rightArrow">
              <a:avLst>
                <a:gd name="adj1" fmla="val 50000"/>
                <a:gd name="adj2" fmla="val 6902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565BC617-9417-C3A6-A006-06EC3A094012}"/>
                </a:ext>
              </a:extLst>
            </p:cNvPr>
            <p:cNvSpPr txBox="1"/>
            <p:nvPr/>
          </p:nvSpPr>
          <p:spPr>
            <a:xfrm>
              <a:off x="6257051" y="1048467"/>
              <a:ext cx="1322815" cy="377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67" dirty="0"/>
                <a:t>Correction</a:t>
              </a: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73080843-C046-F9D9-2AC1-D3949E9C88BE}"/>
                </a:ext>
              </a:extLst>
            </p:cNvPr>
            <p:cNvSpPr txBox="1"/>
            <p:nvPr/>
          </p:nvSpPr>
          <p:spPr>
            <a:xfrm>
              <a:off x="5602370" y="3634747"/>
              <a:ext cx="1553166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dirty="0"/>
                <a:t>Channel routing</a:t>
              </a:r>
            </a:p>
          </p:txBody>
        </p:sp>
        <p:pic>
          <p:nvPicPr>
            <p:cNvPr id="13" name="Picture 12" descr="A map with a red line&#10;&#10;AI-generated content may be incorrect.">
              <a:extLst>
                <a:ext uri="{FF2B5EF4-FFF2-40B4-BE49-F238E27FC236}">
                  <a16:creationId xmlns:a16="http://schemas.microsoft.com/office/drawing/2014/main" id="{A890D433-AB41-FCCA-7A44-0F6BCBEBB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17" t="10870" r="20752" b="15274"/>
            <a:stretch>
              <a:fillRect/>
            </a:stretch>
          </p:blipFill>
          <p:spPr>
            <a:xfrm rot="5400000">
              <a:off x="5905947" y="1172584"/>
              <a:ext cx="1979407" cy="2431227"/>
            </a:xfrm>
            <a:prstGeom prst="rect">
              <a:avLst/>
            </a:prstGeom>
          </p:spPr>
        </p:pic>
      </p:grpSp>
      <p:pic>
        <p:nvPicPr>
          <p:cNvPr id="6" name="Picture 5" descr="A map with a blue line&#10;&#10;AI-generated content may be incorrect.">
            <a:extLst>
              <a:ext uri="{FF2B5EF4-FFF2-40B4-BE49-F238E27FC236}">
                <a16:creationId xmlns:a16="http://schemas.microsoft.com/office/drawing/2014/main" id="{A1A8FF5A-27FC-B8FD-1DE3-5317804443E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4" t="9979" r="21073" b="14867"/>
          <a:stretch>
            <a:fillRect/>
          </a:stretch>
        </p:blipFill>
        <p:spPr>
          <a:xfrm rot="5400000">
            <a:off x="1633664" y="1127536"/>
            <a:ext cx="2639211" cy="3313356"/>
          </a:xfrm>
          <a:prstGeom prst="rect">
            <a:avLst/>
          </a:prstGeom>
        </p:spPr>
      </p:pic>
      <p:pic>
        <p:nvPicPr>
          <p:cNvPr id="15" name="Picture 14" descr="A map with a blue line&#10;&#10;AI-generated content may be incorrect.">
            <a:extLst>
              <a:ext uri="{FF2B5EF4-FFF2-40B4-BE49-F238E27FC236}">
                <a16:creationId xmlns:a16="http://schemas.microsoft.com/office/drawing/2014/main" id="{B34E0D16-251A-BF16-766D-525D7103880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8" t="10076" r="21157" b="14852"/>
          <a:stretch>
            <a:fillRect/>
          </a:stretch>
        </p:blipFill>
        <p:spPr>
          <a:xfrm rot="5400000">
            <a:off x="1667054" y="1160925"/>
            <a:ext cx="2572433" cy="33133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CAD5E2-3559-DCE2-035C-5DD316C3095D}"/>
                  </a:ext>
                </a:extLst>
              </p:cNvPr>
              <p:cNvSpPr txBox="1"/>
              <p:nvPr/>
            </p:nvSpPr>
            <p:spPr>
              <a:xfrm>
                <a:off x="1863813" y="2901647"/>
                <a:ext cx="437607" cy="530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4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44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44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371" i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CAD5E2-3559-DCE2-035C-5DD316C30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813" y="2901647"/>
                <a:ext cx="437607" cy="530017"/>
              </a:xfrm>
              <a:prstGeom prst="rect">
                <a:avLst/>
              </a:prstGeom>
              <a:blipFill>
                <a:blip r:embed="rId6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79886D-DE32-CD15-F997-D01088E57CF5}"/>
                  </a:ext>
                </a:extLst>
              </p:cNvPr>
              <p:cNvSpPr txBox="1"/>
              <p:nvPr/>
            </p:nvSpPr>
            <p:spPr>
              <a:xfrm>
                <a:off x="2650128" y="2880283"/>
                <a:ext cx="302997" cy="530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44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44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44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896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79886D-DE32-CD15-F997-D01088E57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128" y="2880283"/>
                <a:ext cx="302997" cy="530017"/>
              </a:xfrm>
              <a:prstGeom prst="rect">
                <a:avLst/>
              </a:prstGeom>
              <a:blipFill>
                <a:blip r:embed="rId7"/>
                <a:stretch>
                  <a:fillRect r="-48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14F20C-2499-C29F-EE1D-9E76F2399961}"/>
                  </a:ext>
                </a:extLst>
              </p:cNvPr>
              <p:cNvSpPr txBox="1"/>
              <p:nvPr/>
            </p:nvSpPr>
            <p:spPr>
              <a:xfrm>
                <a:off x="3246705" y="3097692"/>
                <a:ext cx="190019" cy="530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44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44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84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896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14F20C-2499-C29F-EE1D-9E76F2399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705" y="3097692"/>
                <a:ext cx="190019" cy="530017"/>
              </a:xfrm>
              <a:prstGeom prst="rect">
                <a:avLst/>
              </a:prstGeom>
              <a:blipFill>
                <a:blip r:embed="rId8"/>
                <a:stretch>
                  <a:fillRect r="-1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>
            <a:extLst>
              <a:ext uri="{FF2B5EF4-FFF2-40B4-BE49-F238E27FC236}">
                <a16:creationId xmlns:a16="http://schemas.microsoft.com/office/drawing/2014/main" id="{EB7F647A-298B-15E0-FD0A-5C60AD00DAE3}"/>
              </a:ext>
            </a:extLst>
          </p:cNvPr>
          <p:cNvSpPr/>
          <p:nvPr/>
        </p:nvSpPr>
        <p:spPr>
          <a:xfrm>
            <a:off x="2715544" y="3480086"/>
            <a:ext cx="280416" cy="282553"/>
          </a:xfrm>
          <a:prstGeom prst="ellipse">
            <a:avLst/>
          </a:prstGeom>
          <a:solidFill>
            <a:srgbClr val="953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8A1E60EE-E599-360F-D91A-C880CC54C873}"/>
              </a:ext>
            </a:extLst>
          </p:cNvPr>
          <p:cNvGrpSpPr/>
          <p:nvPr/>
        </p:nvGrpSpPr>
        <p:grpSpPr>
          <a:xfrm>
            <a:off x="2785479" y="3402641"/>
            <a:ext cx="2070888" cy="2472120"/>
            <a:chOff x="1955759" y="2852018"/>
            <a:chExt cx="1553166" cy="1854090"/>
          </a:xfrm>
        </p:grpSpPr>
        <p:sp>
          <p:nvSpPr>
            <p:cNvPr id="1027" name="Arrow: Right 1026">
              <a:extLst>
                <a:ext uri="{FF2B5EF4-FFF2-40B4-BE49-F238E27FC236}">
                  <a16:creationId xmlns:a16="http://schemas.microsoft.com/office/drawing/2014/main" id="{62152187-8B42-75E3-E4E7-A27497FAF9B9}"/>
                </a:ext>
              </a:extLst>
            </p:cNvPr>
            <p:cNvSpPr/>
            <p:nvPr/>
          </p:nvSpPr>
          <p:spPr>
            <a:xfrm rot="14242912">
              <a:off x="1873281" y="3578793"/>
              <a:ext cx="1854090" cy="400539"/>
            </a:xfrm>
            <a:prstGeom prst="rightArrow">
              <a:avLst>
                <a:gd name="adj1" fmla="val 50000"/>
                <a:gd name="adj2" fmla="val 6902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20C5DD1A-3A65-72B5-199E-BE74DFF55E4F}"/>
                </a:ext>
              </a:extLst>
            </p:cNvPr>
            <p:cNvSpPr txBox="1"/>
            <p:nvPr/>
          </p:nvSpPr>
          <p:spPr>
            <a:xfrm>
              <a:off x="1955759" y="3520298"/>
              <a:ext cx="1553166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dirty="0"/>
                <a:t>Channel routing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27EBCB-3FA0-2BE8-3C40-B642591DDD03}"/>
              </a:ext>
            </a:extLst>
          </p:cNvPr>
          <p:cNvGrpSpPr/>
          <p:nvPr/>
        </p:nvGrpSpPr>
        <p:grpSpPr>
          <a:xfrm>
            <a:off x="4458399" y="2251173"/>
            <a:ext cx="3454499" cy="3779738"/>
            <a:chOff x="3210449" y="1988417"/>
            <a:chExt cx="2590874" cy="2834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92732CF-541E-6401-44B3-B1AE47D37BE1}"/>
                    </a:ext>
                  </a:extLst>
                </p:cNvPr>
                <p:cNvSpPr txBox="1"/>
                <p:nvPr/>
              </p:nvSpPr>
              <p:spPr>
                <a:xfrm>
                  <a:off x="3721656" y="4221197"/>
                  <a:ext cx="570243" cy="5908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867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1867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67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sz="1867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867" b="1" i="1" baseline="-250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92732CF-541E-6401-44B3-B1AE47D37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1656" y="4221197"/>
                  <a:ext cx="570243" cy="59083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2" descr="Document vector icon isolated vector graphic. Paper document page icon vector element. Agreement file symbol.">
              <a:extLst>
                <a:ext uri="{FF2B5EF4-FFF2-40B4-BE49-F238E27FC236}">
                  <a16:creationId xmlns:a16="http://schemas.microsoft.com/office/drawing/2014/main" id="{95E5D91B-8635-4717-1436-E5E939A25C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38" t="20611" r="79360" b="21904"/>
            <a:stretch>
              <a:fillRect/>
            </a:stretch>
          </p:blipFill>
          <p:spPr bwMode="auto">
            <a:xfrm>
              <a:off x="4761490" y="4075717"/>
              <a:ext cx="570242" cy="747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1DF0EBA-0E0F-CC01-97E0-14699FFF45AC}"/>
                    </a:ext>
                  </a:extLst>
                </p:cNvPr>
                <p:cNvSpPr txBox="1"/>
                <p:nvPr/>
              </p:nvSpPr>
              <p:spPr>
                <a:xfrm>
                  <a:off x="5274165" y="4143849"/>
                  <a:ext cx="328205" cy="2847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6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67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1867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867" i="1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1DF0EBA-0E0F-CC01-97E0-14699FFF4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4165" y="4143849"/>
                  <a:ext cx="328205" cy="284742"/>
                </a:xfrm>
                <a:prstGeom prst="rect">
                  <a:avLst/>
                </a:prstGeom>
                <a:blipFill>
                  <a:blip r:embed="rId11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BF53B06-765B-C204-3AC9-9B3C225C2057}"/>
                    </a:ext>
                  </a:extLst>
                </p:cNvPr>
                <p:cNvSpPr txBox="1"/>
                <p:nvPr/>
              </p:nvSpPr>
              <p:spPr>
                <a:xfrm>
                  <a:off x="5275864" y="4339723"/>
                  <a:ext cx="227248" cy="2847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67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67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1867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867" b="1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BF53B06-765B-C204-3AC9-9B3C225C2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5864" y="4339723"/>
                  <a:ext cx="227248" cy="284742"/>
                </a:xfrm>
                <a:prstGeom prst="rect">
                  <a:avLst/>
                </a:prstGeom>
                <a:blipFill>
                  <a:blip r:embed="rId12"/>
                  <a:stretch>
                    <a:fillRect r="-32000"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01A049D-40DE-6C6A-322F-34B46DCA1446}"/>
                    </a:ext>
                  </a:extLst>
                </p:cNvPr>
                <p:cNvSpPr txBox="1"/>
                <p:nvPr/>
              </p:nvSpPr>
              <p:spPr>
                <a:xfrm>
                  <a:off x="5304735" y="4527499"/>
                  <a:ext cx="142514" cy="2847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67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67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1867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867" b="1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01A049D-40DE-6C6A-322F-34B46DCA1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4735" y="4527499"/>
                  <a:ext cx="142514" cy="284742"/>
                </a:xfrm>
                <a:prstGeom prst="rect">
                  <a:avLst/>
                </a:prstGeom>
                <a:blipFill>
                  <a:blip r:embed="rId13"/>
                  <a:stretch>
                    <a:fillRect r="-106250"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28A919B-012F-F1D2-27CE-F21DF140B455}"/>
                </a:ext>
              </a:extLst>
            </p:cNvPr>
            <p:cNvSpPr/>
            <p:nvPr/>
          </p:nvSpPr>
          <p:spPr>
            <a:xfrm>
              <a:off x="4994594" y="3981579"/>
              <a:ext cx="806729" cy="2486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Divide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1C4A8BB-EC1C-685B-39C8-9C59ED473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4074324" y="2215982"/>
              <a:ext cx="1008879" cy="1071935"/>
            </a:xfrm>
            <a:prstGeom prst="rect">
              <a:avLst/>
            </a:prstGeom>
          </p:spPr>
        </p:pic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6FB97BD9-4814-F9A4-5454-1F73FC3EDC4C}"/>
                </a:ext>
              </a:extLst>
            </p:cNvPr>
            <p:cNvCxnSpPr>
              <a:cxnSpLocks/>
              <a:stCxn id="53" idx="2"/>
              <a:endCxn id="51" idx="0"/>
            </p:cNvCxnSpPr>
            <p:nvPr/>
          </p:nvCxnSpPr>
          <p:spPr>
            <a:xfrm rot="5400000">
              <a:off x="3848935" y="3251750"/>
              <a:ext cx="693662" cy="765996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D938388C-ACBC-098E-5BD0-CB938888C77D}"/>
                </a:ext>
              </a:extLst>
            </p:cNvPr>
            <p:cNvCxnSpPr>
              <a:cxnSpLocks/>
              <a:stCxn id="53" idx="2"/>
              <a:endCxn id="50" idx="0"/>
            </p:cNvCxnSpPr>
            <p:nvPr/>
          </p:nvCxnSpPr>
          <p:spPr>
            <a:xfrm rot="16200000" flipH="1">
              <a:off x="4641530" y="3225150"/>
              <a:ext cx="693662" cy="819195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A5EBF38C-30ED-9126-34A2-30B84470FE25}"/>
                </a:ext>
              </a:extLst>
            </p:cNvPr>
            <p:cNvSpPr txBox="1"/>
            <p:nvPr/>
          </p:nvSpPr>
          <p:spPr>
            <a:xfrm>
              <a:off x="3806101" y="1988417"/>
              <a:ext cx="1464487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dirty="0"/>
                <a:t>Rainfall-Runoff</a:t>
              </a:r>
            </a:p>
          </p:txBody>
        </p:sp>
        <p:pic>
          <p:nvPicPr>
            <p:cNvPr id="1026" name="Picture 2" descr="Document vector icon isolated vector graphic. Paper document page icon vector element. Agreement file symbol.">
              <a:extLst>
                <a:ext uri="{FF2B5EF4-FFF2-40B4-BE49-F238E27FC236}">
                  <a16:creationId xmlns:a16="http://schemas.microsoft.com/office/drawing/2014/main" id="{2378C46B-4CBB-6227-F9CB-83897A5F99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58" t="20611" r="79360" b="21904"/>
            <a:stretch>
              <a:fillRect/>
            </a:stretch>
          </p:blipFill>
          <p:spPr bwMode="auto">
            <a:xfrm>
              <a:off x="3210449" y="4066626"/>
              <a:ext cx="538203" cy="747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6DD8708-7459-CB14-1906-9A3AFE6A74C2}"/>
                </a:ext>
              </a:extLst>
            </p:cNvPr>
            <p:cNvSpPr/>
            <p:nvPr/>
          </p:nvSpPr>
          <p:spPr>
            <a:xfrm>
              <a:off x="3409403" y="3981579"/>
              <a:ext cx="806729" cy="2486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Nexus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92EB36-8E7A-3DF8-36CA-3F84EF5CBA72}"/>
              </a:ext>
            </a:extLst>
          </p:cNvPr>
          <p:cNvCxnSpPr>
            <a:cxnSpLocks/>
          </p:cNvCxnSpPr>
          <p:nvPr/>
        </p:nvCxnSpPr>
        <p:spPr>
          <a:xfrm>
            <a:off x="593763" y="5228213"/>
            <a:ext cx="702828" cy="0"/>
          </a:xfrm>
          <a:prstGeom prst="line">
            <a:avLst/>
          </a:prstGeom>
          <a:ln w="31750">
            <a:solidFill>
              <a:srgbClr val="070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6D7BCD-2769-F147-7FBD-A2BE1D9110E1}"/>
              </a:ext>
            </a:extLst>
          </p:cNvPr>
          <p:cNvCxnSpPr>
            <a:cxnSpLocks/>
          </p:cNvCxnSpPr>
          <p:nvPr/>
        </p:nvCxnSpPr>
        <p:spPr>
          <a:xfrm>
            <a:off x="593763" y="5572129"/>
            <a:ext cx="702828" cy="0"/>
          </a:xfrm>
          <a:prstGeom prst="line">
            <a:avLst/>
          </a:prstGeom>
          <a:ln w="31750">
            <a:solidFill>
              <a:srgbClr val="D421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BE36A-1FFF-A44B-FCCF-F22AC85979DF}"/>
              </a:ext>
            </a:extLst>
          </p:cNvPr>
          <p:cNvSpPr txBox="1"/>
          <p:nvPr/>
        </p:nvSpPr>
        <p:spPr>
          <a:xfrm>
            <a:off x="1396540" y="4998909"/>
            <a:ext cx="1412053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dirty="0"/>
              <a:t>No routing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6B9A03-003B-C988-C420-59C74825AAAF}"/>
              </a:ext>
            </a:extLst>
          </p:cNvPr>
          <p:cNvSpPr txBox="1"/>
          <p:nvPr/>
        </p:nvSpPr>
        <p:spPr>
          <a:xfrm>
            <a:off x="1396540" y="5345543"/>
            <a:ext cx="1090363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dirty="0"/>
              <a:t>Routing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E41C3F-7B1C-3E67-3295-62EF97C81293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Routing Structure</a:t>
            </a:r>
          </a:p>
        </p:txBody>
      </p:sp>
    </p:spTree>
    <p:extLst>
      <p:ext uri="{BB962C8B-B14F-4D97-AF65-F5344CB8AC3E}">
        <p14:creationId xmlns:p14="http://schemas.microsoft.com/office/powerpoint/2010/main" val="246635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1392</TotalTime>
  <Words>46</Words>
  <Application>Microsoft Office PowerPoint</Application>
  <PresentationFormat>Widescreen</PresentationFormat>
  <Paragraphs>27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Saiduzzaman, Md (S&amp;T-Student)</dc:creator>
  <cp:lastModifiedBy>Saiduzzaman, Md (S&amp;T-Student)</cp:lastModifiedBy>
  <cp:revision>15</cp:revision>
  <dcterms:created xsi:type="dcterms:W3CDTF">2026-07-08T15:21:36Z</dcterms:created>
  <dcterms:modified xsi:type="dcterms:W3CDTF">2026-07-15T03:09:10Z</dcterms:modified>
</cp:coreProperties>
</file>