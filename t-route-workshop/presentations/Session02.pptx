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9A754-6432-400C-8E37-76AB62E206D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ADEE0-F497-408D-ACB9-82CC24901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DEE0-F497-408D-ACB9-82CC249019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5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DEE0-F497-408D-ACB9-82CC249019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CFCB-A0AE-1B1A-932C-E17436B63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5A5FA-0703-ED09-5F80-C4C0296E6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A477-9EC3-549A-D917-B035E1E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760B-1A90-CE5A-D83F-588CC8B5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9307-9997-4918-E938-BCA552F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8CE8-78B0-EF8D-E637-D38D610C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588F-0D1F-7C39-C67D-B8E134C25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7CE-7348-944D-D5D0-FEC25D8D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0B576-AE2D-ED40-4471-A12A6B5D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5D6C1-6BD8-891C-54F9-647E538C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3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E4FD-507B-BB2B-F66B-E04A94B7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FF08-5812-C1F1-A801-7B4DC55E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73E8-1ED2-B064-E7BF-C110B4BE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A68F-6073-8CAB-86AF-F8FAD215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C0D14-3B00-1201-0757-BBF76B96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5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8190-FD1A-930D-8D99-06B368A4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D1FB-5F0C-D7AF-22E6-B3A8CED33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1B56E-2B35-801E-0696-D101D7C59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B546-6383-4813-7B07-327B6283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9178E-B358-4418-6C5F-1D49A0C1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509C9-3846-6C40-CB8C-DB111FDC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9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BE8A-6546-00EC-D402-F06E1E41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124B6-8F19-9FC7-003E-BE0C3B9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6434F-006E-C408-32DB-A8B4D9371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AF78E-AC25-9005-F6E7-F4990E0A5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E544D-076D-A9C5-83E0-A0A38B065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C3290-D7C5-9D95-B217-2B47061F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C6C1A-6CDD-4AF1-F77B-4573495C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F45CC-1F8E-F5BF-C2F1-49CB5B3B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516A-AAF6-F470-F1DE-C6C136D5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5720D-578F-7524-83D3-F1EED2E9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16D78-A981-2837-9AF7-5CD6D77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04885-F7AF-78C0-951A-C212876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66F42-BD22-B27A-E822-DF3EDD34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66236-7B8E-C7E2-07D3-81610983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F51E-1D96-3370-4848-F4EB7813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0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AFE5-4105-B8C5-F84C-A7F16F75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14B2-5BAF-9DD6-F31F-8BF68C2F0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66FA9-3144-6B93-EEFF-FADEA248B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E93E1-56A9-3E5A-A80D-5C2AE534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A094-9183-8996-91F4-92F10732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88ABF-FFA7-9032-1404-73D451B6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0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C70C-0E75-158A-447B-DC3DDFED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CC263-67B2-DFCD-2586-808DD4F38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952A0-5A90-4EA8-83F4-195DC772F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879AB-07D9-7B48-BDAB-A485F2C3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EE7C3-D762-3B98-05EC-4F28CB0B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5038D-7AEF-6235-D96E-8471BDB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9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7C7-EAE3-5548-A8BA-45963D44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20FD7-79BA-B899-E7A2-C1B1412E8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06E7-80C1-DAD7-8F3A-DE20CC3F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C39D7-405C-49FF-1C1F-6D762F11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2DCC-D5F8-F419-4A23-CE26EE6C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5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DA7C0-7FE0-A6B5-A062-4F0ECB03B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B4F6D-8758-2823-D914-9C228249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F1DC-99CE-D3E1-E1B8-EFEFDA1C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3DCD6-142C-E40A-F947-84EE2B92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0B6F-18E6-2B15-0B17-1AD4E86F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482F5-78E6-301D-2210-EDB3E985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A837E-255F-2CA1-8FB3-B984EA40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B13C-96FF-5C3A-822E-91CED11F5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CF464-92D4-D9A6-21C2-8768D8EEB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D8160-3CC7-730A-A96F-62C6E3A8F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0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erial view of valley map">
            <a:extLst>
              <a:ext uri="{FF2B5EF4-FFF2-40B4-BE49-F238E27FC236}">
                <a16:creationId xmlns:a16="http://schemas.microsoft.com/office/drawing/2014/main" id="{E49E72DD-0586-3EB4-DC24-1FEC9C539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1316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42DCC3-5F56-7069-53A2-088C86985486}"/>
              </a:ext>
            </a:extLst>
          </p:cNvPr>
          <p:cNvSpPr txBox="1"/>
          <p:nvPr/>
        </p:nvSpPr>
        <p:spPr>
          <a:xfrm>
            <a:off x="0" y="1196980"/>
            <a:ext cx="1218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Session 2: Data Acquisition for NextGen and T-Route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C92744-3B93-C71D-909C-2184BF69E1A7}"/>
              </a:ext>
            </a:extLst>
          </p:cNvPr>
          <p:cNvSpPr txBox="1"/>
          <p:nvPr/>
        </p:nvSpPr>
        <p:spPr>
          <a:xfrm>
            <a:off x="0" y="3912103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Md Saiduzzaman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2B3F03-5778-6558-3E3C-E6C81C45A6E0}"/>
              </a:ext>
            </a:extLst>
          </p:cNvPr>
          <p:cNvSpPr txBox="1"/>
          <p:nvPr/>
        </p:nvSpPr>
        <p:spPr>
          <a:xfrm>
            <a:off x="0" y="5020081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July 15, </a:t>
            </a:r>
            <a:r>
              <a:rPr lang="en-US" sz="4000" b="1" dirty="0">
                <a:solidFill>
                  <a:schemeClr val="bg1"/>
                </a:solidFill>
              </a:rPr>
              <a:t>2026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A0D6B0-C7B3-D714-4523-4282818ED9ED}"/>
              </a:ext>
            </a:extLst>
          </p:cNvPr>
          <p:cNvSpPr txBox="1"/>
          <p:nvPr/>
        </p:nvSpPr>
        <p:spPr>
          <a:xfrm>
            <a:off x="-4571" y="-1672"/>
            <a:ext cx="1218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T-Route </a:t>
            </a:r>
            <a:r>
              <a:rPr lang="en-US" b="1" dirty="0">
                <a:solidFill>
                  <a:schemeClr val="bg1"/>
                </a:solidFill>
              </a:rPr>
              <a:t>Workshop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2" name="image2.png">
            <a:extLst>
              <a:ext uri="{FF2B5EF4-FFF2-40B4-BE49-F238E27FC236}">
                <a16:creationId xmlns:a16="http://schemas.microsoft.com/office/drawing/2014/main" id="{41E75F24-214A-606A-BFAB-3F2A1CCB4E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06999" y="5805007"/>
            <a:ext cx="914400" cy="914400"/>
          </a:xfrm>
          <a:prstGeom prst="rect">
            <a:avLst/>
          </a:prstGeom>
          <a:ln/>
        </p:spPr>
      </p:pic>
      <p:pic>
        <p:nvPicPr>
          <p:cNvPr id="43" name="image1.png">
            <a:extLst>
              <a:ext uri="{FF2B5EF4-FFF2-40B4-BE49-F238E27FC236}">
                <a16:creationId xmlns:a16="http://schemas.microsoft.com/office/drawing/2014/main" id="{C637E70E-3A92-7C62-A218-751DE77952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02200" y="5805007"/>
            <a:ext cx="914400" cy="914400"/>
          </a:xfrm>
          <a:prstGeom prst="rect">
            <a:avLst/>
          </a:prstGeom>
          <a:ln/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28359388-FC06-5C9A-8FA1-808D3FE3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9" y="5805007"/>
            <a:ext cx="112289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85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336D1E-99C2-136E-8CD1-423698490B2F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River Network Data</a:t>
            </a:r>
          </a:p>
        </p:txBody>
      </p:sp>
      <p:pic>
        <p:nvPicPr>
          <p:cNvPr id="1055" name="Picture 1054">
            <a:extLst>
              <a:ext uri="{FF2B5EF4-FFF2-40B4-BE49-F238E27FC236}">
                <a16:creationId xmlns:a16="http://schemas.microsoft.com/office/drawing/2014/main" id="{18580311-9DF6-FE5B-5DAA-D6525AC7D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35" y="2648081"/>
            <a:ext cx="4690445" cy="2743200"/>
          </a:xfrm>
          <a:prstGeom prst="rect">
            <a:avLst/>
          </a:prstGeom>
        </p:spPr>
      </p:pic>
      <p:pic>
        <p:nvPicPr>
          <p:cNvPr id="1056" name="Picture 8">
            <a:extLst>
              <a:ext uri="{FF2B5EF4-FFF2-40B4-BE49-F238E27FC236}">
                <a16:creationId xmlns:a16="http://schemas.microsoft.com/office/drawing/2014/main" id="{9C92560C-2E74-A868-08C1-0C22CCC19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948" y="2648081"/>
            <a:ext cx="267136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8" name="Arrow: Right 1057">
            <a:extLst>
              <a:ext uri="{FF2B5EF4-FFF2-40B4-BE49-F238E27FC236}">
                <a16:creationId xmlns:a16="http://schemas.microsoft.com/office/drawing/2014/main" id="{31FA0AB8-AAF3-FE1D-FA8A-CF375B65A841}"/>
              </a:ext>
            </a:extLst>
          </p:cNvPr>
          <p:cNvSpPr/>
          <p:nvPr/>
        </p:nvSpPr>
        <p:spPr>
          <a:xfrm>
            <a:off x="5234748" y="3710053"/>
            <a:ext cx="330200" cy="36830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9" name="Arrow: Right 1058">
            <a:extLst>
              <a:ext uri="{FF2B5EF4-FFF2-40B4-BE49-F238E27FC236}">
                <a16:creationId xmlns:a16="http://schemas.microsoft.com/office/drawing/2014/main" id="{9FDBE52A-2351-9F6B-D9B9-9C4EF9CFE6EC}"/>
              </a:ext>
            </a:extLst>
          </p:cNvPr>
          <p:cNvSpPr/>
          <p:nvPr/>
        </p:nvSpPr>
        <p:spPr>
          <a:xfrm>
            <a:off x="8236314" y="3710053"/>
            <a:ext cx="330200" cy="36830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2" name="Picture 1081">
            <a:extLst>
              <a:ext uri="{FF2B5EF4-FFF2-40B4-BE49-F238E27FC236}">
                <a16:creationId xmlns:a16="http://schemas.microsoft.com/office/drawing/2014/main" id="{2C2F05EC-ADFC-675C-9525-E7EAC5107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9"/>
          <a:stretch>
            <a:fillRect/>
          </a:stretch>
        </p:blipFill>
        <p:spPr>
          <a:xfrm>
            <a:off x="8647883" y="764724"/>
            <a:ext cx="2953568" cy="4481446"/>
          </a:xfrm>
          <a:prstGeom prst="rect">
            <a:avLst/>
          </a:prstGeom>
        </p:spPr>
      </p:pic>
      <p:sp>
        <p:nvSpPr>
          <p:cNvPr id="1083" name="Arrow: Right 1082">
            <a:extLst>
              <a:ext uri="{FF2B5EF4-FFF2-40B4-BE49-F238E27FC236}">
                <a16:creationId xmlns:a16="http://schemas.microsoft.com/office/drawing/2014/main" id="{787FE22F-174E-4BFC-7041-79B1D2229BD5}"/>
              </a:ext>
            </a:extLst>
          </p:cNvPr>
          <p:cNvSpPr/>
          <p:nvPr/>
        </p:nvSpPr>
        <p:spPr>
          <a:xfrm rot="5400000">
            <a:off x="2643057" y="2027433"/>
            <a:ext cx="330200" cy="36830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84" name="Picture 12" descr="Data Model Icon - Free PNG &amp; SVG 1632660 - Noun Project">
            <a:extLst>
              <a:ext uri="{FF2B5EF4-FFF2-40B4-BE49-F238E27FC236}">
                <a16:creationId xmlns:a16="http://schemas.microsoft.com/office/drawing/2014/main" id="{FA37E3C5-4FE1-6B74-8AAB-5C0485A9C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57" y="1127190"/>
            <a:ext cx="1084393" cy="108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" name="TextBox 1084">
            <a:extLst>
              <a:ext uri="{FF2B5EF4-FFF2-40B4-BE49-F238E27FC236}">
                <a16:creationId xmlns:a16="http://schemas.microsoft.com/office/drawing/2014/main" id="{0CBFF89E-EC74-FB40-0BCE-73FE0C27855A}"/>
              </a:ext>
            </a:extLst>
          </p:cNvPr>
          <p:cNvSpPr txBox="1"/>
          <p:nvPr/>
        </p:nvSpPr>
        <p:spPr>
          <a:xfrm>
            <a:off x="1847850" y="1288253"/>
            <a:ext cx="482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OGC WaterML 2 - Surface Hydrology Features (HY_Features) - Conceptual Model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EFDD4B61-BCC8-7CD3-1521-101FCE5C95A5}"/>
              </a:ext>
            </a:extLst>
          </p:cNvPr>
          <p:cNvSpPr txBox="1"/>
          <p:nvPr/>
        </p:nvSpPr>
        <p:spPr>
          <a:xfrm>
            <a:off x="8728439" y="626825"/>
            <a:ext cx="185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NextGen Hydrofabric v2.2</a:t>
            </a:r>
          </a:p>
        </p:txBody>
      </p:sp>
      <p:pic>
        <p:nvPicPr>
          <p:cNvPr id="1088" name="Picture 16">
            <a:extLst>
              <a:ext uri="{FF2B5EF4-FFF2-40B4-BE49-F238E27FC236}">
                <a16:creationId xmlns:a16="http://schemas.microsoft.com/office/drawing/2014/main" id="{B7C581FC-1548-AB7E-E9E9-50E3D29DF1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2" r="4816"/>
          <a:stretch>
            <a:fillRect/>
          </a:stretch>
        </p:blipFill>
        <p:spPr bwMode="auto">
          <a:xfrm>
            <a:off x="8647882" y="4987388"/>
            <a:ext cx="2953512" cy="146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89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57BA01D-A4DB-A871-F24C-8E9B9356F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129481"/>
              </p:ext>
            </p:extLst>
          </p:nvPr>
        </p:nvGraphicFramePr>
        <p:xfrm>
          <a:off x="6096000" y="4437498"/>
          <a:ext cx="5486400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1483336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1499895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5565793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46269508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7135674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0608732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465838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71278218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994117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9945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47084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74927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58786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51143E4-CE93-652C-106C-B23284160F23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Meteorological Forcing (AORC)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404421-3C54-1B13-258D-80BFCDD055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t="21980" r="6915" b="32799"/>
          <a:stretch>
            <a:fillRect/>
          </a:stretch>
        </p:blipFill>
        <p:spPr>
          <a:xfrm>
            <a:off x="6191250" y="4425408"/>
            <a:ext cx="5353050" cy="16580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A9680D-34A2-875F-0A5D-56B3CE236532}"/>
              </a:ext>
            </a:extLst>
          </p:cNvPr>
          <p:cNvSpPr txBox="1"/>
          <p:nvPr/>
        </p:nvSpPr>
        <p:spPr>
          <a:xfrm>
            <a:off x="8015286" y="6168370"/>
            <a:ext cx="2328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Basin Average Value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4C0F1C-CC03-F2E7-BC4D-3A0A84CA4227}"/>
              </a:ext>
            </a:extLst>
          </p:cNvPr>
          <p:cNvSpPr txBox="1"/>
          <p:nvPr/>
        </p:nvSpPr>
        <p:spPr>
          <a:xfrm>
            <a:off x="419102" y="1082255"/>
            <a:ext cx="5638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Spatial coverage: </a:t>
            </a:r>
            <a:r>
              <a:rPr lang="en-US" dirty="0"/>
              <a:t>CONUS RFC  Extents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Spatial resolution: </a:t>
            </a:r>
            <a:r>
              <a:rPr lang="en-US" dirty="0"/>
              <a:t>Grid/raster: ≤1 km2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Temporal coverage: </a:t>
            </a:r>
            <a:r>
              <a:rPr lang="en-US" dirty="0"/>
              <a:t>1979-present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Temporal Resolution: </a:t>
            </a:r>
            <a:r>
              <a:rPr lang="en-US" dirty="0"/>
              <a:t>1h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Meteorological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Precipitation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Downward shortwave &amp; longwave radiation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Pressure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2-m air temperature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2-m Specific humidity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Zonal (U) wind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Meridional (V) wind	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3253FBB-C2A7-D479-73EB-6ACDCAE76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82255"/>
            <a:ext cx="5486400" cy="28379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E4CD98C-E420-1920-D5BF-6A80E4D0C7EA}"/>
              </a:ext>
            </a:extLst>
          </p:cNvPr>
          <p:cNvSpPr txBox="1"/>
          <p:nvPr/>
        </p:nvSpPr>
        <p:spPr>
          <a:xfrm>
            <a:off x="6362700" y="3920229"/>
            <a:ext cx="507682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spc="-1" dirty="0">
                <a:solidFill>
                  <a:srgbClr val="0054A6"/>
                </a:solidFill>
                <a:latin typeface="Arial"/>
              </a:rPr>
              <a:t>J American Water </a:t>
            </a:r>
            <a:r>
              <a:rPr lang="en-US" sz="600" b="1" spc="-1" dirty="0" err="1">
                <a:solidFill>
                  <a:srgbClr val="0054A6"/>
                </a:solidFill>
                <a:latin typeface="Arial"/>
              </a:rPr>
              <a:t>Resour</a:t>
            </a:r>
            <a:r>
              <a:rPr lang="en-US" sz="600" b="1" spc="-1" dirty="0">
                <a:solidFill>
                  <a:srgbClr val="0054A6"/>
                </a:solidFill>
                <a:latin typeface="Arial"/>
              </a:rPr>
              <a:t> Assoc, Volume: 59, Issue: 6, Pages: 1246-1272, First published: 09 July 2023, DOI: (10.1111/1752-1688.13143) </a:t>
            </a:r>
            <a:endParaRPr lang="en-US" sz="6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6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E9E29B-225A-DEC8-3D70-44C633A6E85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9"/>
          <a:stretch>
            <a:fillRect/>
          </a:stretch>
        </p:blipFill>
        <p:spPr>
          <a:xfrm>
            <a:off x="4462131" y="1621499"/>
            <a:ext cx="3552100" cy="44695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D7AF8B-3A36-FD9B-BB7A-7B7540CB621C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5400" b="1" dirty="0">
                <a:solidFill>
                  <a:schemeClr val="tx1"/>
                </a:solidFill>
              </a:rPr>
              <a:t>River Cross-Section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45046-67D2-6DF5-9457-3C58BE5B9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51137" y="2225138"/>
            <a:ext cx="3063728" cy="3059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B043B8-C22F-C4DE-15E7-596601F925A0}"/>
              </a:ext>
            </a:extLst>
          </p:cNvPr>
          <p:cNvSpPr txBox="1"/>
          <p:nvPr/>
        </p:nvSpPr>
        <p:spPr>
          <a:xfrm>
            <a:off x="6383411" y="1855550"/>
            <a:ext cx="185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NextGen Hydrofabric3D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B22709-4182-B810-5CB6-0BF3766469E2}"/>
              </a:ext>
            </a:extLst>
          </p:cNvPr>
          <p:cNvSpPr txBox="1"/>
          <p:nvPr/>
        </p:nvSpPr>
        <p:spPr>
          <a:xfrm>
            <a:off x="9450504" y="1884879"/>
            <a:ext cx="205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USGS 05454220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D7AAA1B-AD51-690C-355F-996061A1AF75}"/>
              </a:ext>
            </a:extLst>
          </p:cNvPr>
          <p:cNvSpPr/>
          <p:nvPr/>
        </p:nvSpPr>
        <p:spPr>
          <a:xfrm>
            <a:off x="3922244" y="3366300"/>
            <a:ext cx="490890" cy="443699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Digital Elevation Model&quot; Images – Browse 2,134 Stock Photos, Vectors, and  Video | Adobe Stock">
            <a:extLst>
              <a:ext uri="{FF2B5EF4-FFF2-40B4-BE49-F238E27FC236}">
                <a16:creationId xmlns:a16="http://schemas.microsoft.com/office/drawing/2014/main" id="{398E1D48-6179-E32C-905C-A6F83D114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87" y="2708986"/>
            <a:ext cx="3840435" cy="209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72A2B0-BC1C-7ABC-456B-720EC041D603}"/>
              </a:ext>
            </a:extLst>
          </p:cNvPr>
          <p:cNvSpPr txBox="1"/>
          <p:nvPr/>
        </p:nvSpPr>
        <p:spPr>
          <a:xfrm>
            <a:off x="957028" y="4836642"/>
            <a:ext cx="249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Elevation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F4CFA3-2E04-4238-F650-14DA06317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779" y="2321455"/>
            <a:ext cx="1186379" cy="1372097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AA2A339-2F83-366B-8960-F3B94A491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89" y="2118296"/>
            <a:ext cx="1186379" cy="137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9C57DEB-BE61-B1AE-F2EC-8132A605C08F}"/>
              </a:ext>
            </a:extLst>
          </p:cNvPr>
          <p:cNvSpPr/>
          <p:nvPr/>
        </p:nvSpPr>
        <p:spPr>
          <a:xfrm>
            <a:off x="8137239" y="3366300"/>
            <a:ext cx="490890" cy="443699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8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1337</TotalTime>
  <Words>144</Words>
  <Application>Microsoft Office PowerPoint</Application>
  <PresentationFormat>Widescreen</PresentationFormat>
  <Paragraphs>33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Saiduzzaman, Md (S&amp;T-Student)</dc:creator>
  <cp:lastModifiedBy>Saiduzzaman, Md (S&amp;T-Student)</cp:lastModifiedBy>
  <cp:revision>12</cp:revision>
  <dcterms:created xsi:type="dcterms:W3CDTF">2026-07-08T15:21:36Z</dcterms:created>
  <dcterms:modified xsi:type="dcterms:W3CDTF">2026-07-15T03:08:44Z</dcterms:modified>
</cp:coreProperties>
</file>