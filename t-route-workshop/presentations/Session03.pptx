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"/>
  </p:notesMasterIdLst>
  <p:sldIdLst>
    <p:sldId id="256" r:id="rId2"/>
    <p:sldId id="1111" r:id="rId3"/>
    <p:sldId id="1112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C9A754-6432-400C-8E37-76AB62E206D0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EADEE0-F497-408D-ACB9-82CC24901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792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ADEE0-F497-408D-ACB9-82CC249019F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456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ADEE0-F497-408D-ACB9-82CC249019F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983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3CFCB-A0AE-1B1A-932C-E17436B63B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C5A5FA-0703-ED09-5F80-C4C0296E61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BA477-9EC3-549A-D917-B035E1E75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C760B-1A90-CE5A-D83F-588CC8B52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C9307-9997-4918-E938-BCA552FF2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625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E8CE8-78B0-EF8D-E637-D38D610CA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5588F-0D1F-7C39-C67D-B8E134C25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477CE-7348-944D-D5D0-FEC25D8D6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0B576-AE2D-ED40-4471-A12A6B5DF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5D6C1-6BD8-891C-54F9-647E538C9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132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4E4FD-507B-BB2B-F66B-E04A94B79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ECFF08-5812-C1F1-A801-7B4DC55E0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073E8-1ED2-B064-E7BF-C110B4BEA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DA68F-6073-8CAB-86AF-F8FAD215E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C0D14-3B00-1201-0757-BBF76B96B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055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28190-FD1A-930D-8D99-06B368A4A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BD1FB-5F0C-D7AF-22E6-B3A8CED337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1B56E-2B35-801E-0696-D101D7C595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69B546-6383-4813-7B07-327B62832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B9178E-B358-4418-6C5F-1D49A0C10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7509C9-3846-6C40-CB8C-DB111FDC1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590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1BE8A-6546-00EC-D402-F06E1E412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124B6-8F19-9FC7-003E-BE0C3B93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56434F-006E-C408-32DB-A8B4D93714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FAF78E-AC25-9005-F6E7-F4990E0A57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4E544D-076D-A9C5-83E0-A0A38B0655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7C3290-D7C5-9D95-B217-2B47061FB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9C6C1A-6CDD-4AF1-F77B-4573495CF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EF45CC-1F8E-F5BF-C2F1-49CB5B3BC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120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8516A-AAF6-F470-F1DE-C6C136D51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85720D-578F-7524-83D3-F1EED2E9E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216D78-A981-2837-9AF7-5CD6D77B9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A04885-F7AF-78C0-951A-C2128769E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720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966F42-BD22-B27A-E822-DF3EDD34A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A66236-7B8E-C7E2-07D3-81610983A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1F51E-1D96-3370-4848-F4EB78131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804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FAFE5-4105-B8C5-F84C-A7F16F75F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314B2-5BAF-9DD6-F31F-8BF68C2F0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966FA9-3144-6B93-EEFF-FADEA248B7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E93E1-56A9-3E5A-A80D-5C2AE534F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EA094-9183-8996-91F4-92F10732A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88ABF-FFA7-9032-1404-73D451B6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408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5C70C-0E75-158A-447B-DC3DDFED8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BCC263-67B2-DFCD-2586-808DD4F38B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952A0-5A90-4EA8-83F4-195DC772FB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B879AB-07D9-7B48-BDAB-A485F2C3C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EE7C3-D762-3B98-05EC-4F28CB0BF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5038D-7AEF-6235-D96E-8471BDB6F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91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147C7-EAE3-5548-A8BA-45963D44D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C20FD7-79BA-B899-E7A2-C1B1412E8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506E7-80C1-DAD7-8F3A-DE20CC3FF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C39D7-405C-49FF-1C1F-6D762F113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12DCC-D5F8-F419-4A23-CE26EE6C9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5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4DA7C0-7FE0-A6B5-A062-4F0ECB03B4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AB4F6D-8758-2823-D914-9C22824950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DF1DC-99CE-D3E1-E1B8-EFEFDA1C9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3DCD6-142C-E40A-F947-84EE2B92E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A0B6F-18E6-2B15-0B17-1AD4E86FD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4482F5-78E6-301D-2210-EDB3E9855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A837E-255F-2CA1-8FB3-B984EA403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AB13C-96FF-5C3A-822E-91CED11F5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CF464-92D4-D9A6-21C2-8768D8EEB4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D8160-3CC7-730A-A96F-62C6E3A8FC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704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 descr="Aerial view of valley map">
            <a:extLst>
              <a:ext uri="{FF2B5EF4-FFF2-40B4-BE49-F238E27FC236}">
                <a16:creationId xmlns:a16="http://schemas.microsoft.com/office/drawing/2014/main" id="{E49E72DD-0586-3EB4-DC24-1FEC9C539C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</a:extLst>
          </a:blip>
          <a:srcRect t="1316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42DCC3-5F56-7069-53A2-088C86985486}"/>
              </a:ext>
            </a:extLst>
          </p:cNvPr>
          <p:cNvSpPr txBox="1"/>
          <p:nvPr/>
        </p:nvSpPr>
        <p:spPr>
          <a:xfrm>
            <a:off x="0" y="1196980"/>
            <a:ext cx="121889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Session 3: Calibration of the NextGen Rainfall-Runoff Model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C92744-3B93-C71D-909C-2184BF69E1A7}"/>
              </a:ext>
            </a:extLst>
          </p:cNvPr>
          <p:cNvSpPr txBox="1"/>
          <p:nvPr/>
        </p:nvSpPr>
        <p:spPr>
          <a:xfrm>
            <a:off x="0" y="3912103"/>
            <a:ext cx="121889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Md Saiduzzaman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42B3F03-5778-6558-3E3C-E6C81C45A6E0}"/>
              </a:ext>
            </a:extLst>
          </p:cNvPr>
          <p:cNvSpPr txBox="1"/>
          <p:nvPr/>
        </p:nvSpPr>
        <p:spPr>
          <a:xfrm>
            <a:off x="0" y="5020081"/>
            <a:ext cx="121889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July 15, </a:t>
            </a:r>
            <a:r>
              <a:rPr lang="en-US" sz="4000" b="1" dirty="0">
                <a:solidFill>
                  <a:schemeClr val="bg1"/>
                </a:solidFill>
              </a:rPr>
              <a:t>2026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1A0D6B0-C7B3-D714-4523-4282818ED9ED}"/>
              </a:ext>
            </a:extLst>
          </p:cNvPr>
          <p:cNvSpPr txBox="1"/>
          <p:nvPr/>
        </p:nvSpPr>
        <p:spPr>
          <a:xfrm>
            <a:off x="-4571" y="-1672"/>
            <a:ext cx="12188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T-Route </a:t>
            </a:r>
            <a:r>
              <a:rPr lang="en-US" b="1" dirty="0">
                <a:solidFill>
                  <a:schemeClr val="bg1"/>
                </a:solidFill>
              </a:rPr>
              <a:t>Workshop</a:t>
            </a:r>
            <a:endParaRPr lang="en-US" sz="1200" b="1" dirty="0">
              <a:solidFill>
                <a:schemeClr val="bg1"/>
              </a:solidFill>
            </a:endParaRPr>
          </a:p>
        </p:txBody>
      </p:sp>
      <p:pic>
        <p:nvPicPr>
          <p:cNvPr id="42" name="image2.png">
            <a:extLst>
              <a:ext uri="{FF2B5EF4-FFF2-40B4-BE49-F238E27FC236}">
                <a16:creationId xmlns:a16="http://schemas.microsoft.com/office/drawing/2014/main" id="{41E75F24-214A-606A-BFAB-3F2A1CCB4E8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906999" y="5805007"/>
            <a:ext cx="914400" cy="914400"/>
          </a:xfrm>
          <a:prstGeom prst="rect">
            <a:avLst/>
          </a:prstGeom>
          <a:ln/>
        </p:spPr>
      </p:pic>
      <p:pic>
        <p:nvPicPr>
          <p:cNvPr id="43" name="image1.png">
            <a:extLst>
              <a:ext uri="{FF2B5EF4-FFF2-40B4-BE49-F238E27FC236}">
                <a16:creationId xmlns:a16="http://schemas.microsoft.com/office/drawing/2014/main" id="{C637E70E-3A92-7C62-A218-751DE779523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902200" y="5805007"/>
            <a:ext cx="914400" cy="914400"/>
          </a:xfrm>
          <a:prstGeom prst="rect">
            <a:avLst/>
          </a:prstGeom>
          <a:ln/>
        </p:spPr>
      </p:pic>
      <p:pic>
        <p:nvPicPr>
          <p:cNvPr id="44" name="Picture 2">
            <a:extLst>
              <a:ext uri="{FF2B5EF4-FFF2-40B4-BE49-F238E27FC236}">
                <a16:creationId xmlns:a16="http://schemas.microsoft.com/office/drawing/2014/main" id="{28359388-FC06-5C9A-8FA1-808D3FE3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229" y="5805007"/>
            <a:ext cx="1122891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9851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7005"/>
            <a:ext cx="12192000" cy="565785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marL="342891"/>
            <a:r>
              <a:rPr lang="en-US" sz="4800" b="1" dirty="0">
                <a:solidFill>
                  <a:schemeClr val="tx1"/>
                </a:solidFill>
              </a:rPr>
              <a:t>Rainfall-Runoff Model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F1BC8C-66A4-56E6-BF48-F378490D916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2F3F5"/>
              </a:clrFrom>
              <a:clrTo>
                <a:srgbClr val="F2F3F5">
                  <a:alpha val="0"/>
                </a:srgbClr>
              </a:clrTo>
            </a:clrChange>
          </a:blip>
          <a:srcRect l="1090" t="1320" r="1708" b="1454"/>
          <a:stretch>
            <a:fillRect/>
          </a:stretch>
        </p:blipFill>
        <p:spPr>
          <a:xfrm>
            <a:off x="6229352" y="2213070"/>
            <a:ext cx="5648326" cy="3114675"/>
          </a:xfrm>
          <a:prstGeom prst="rect">
            <a:avLst/>
          </a:prstGeom>
        </p:spPr>
      </p:pic>
      <p:sp>
        <p:nvSpPr>
          <p:cNvPr id="4" name="CFE Header">
            <a:extLst>
              <a:ext uri="{FF2B5EF4-FFF2-40B4-BE49-F238E27FC236}">
                <a16:creationId xmlns:a16="http://schemas.microsoft.com/office/drawing/2014/main" id="{4A1E68DA-0549-A69E-ADDA-618E2C0057DA}"/>
              </a:ext>
            </a:extLst>
          </p:cNvPr>
          <p:cNvSpPr/>
          <p:nvPr/>
        </p:nvSpPr>
        <p:spPr>
          <a:xfrm>
            <a:off x="6843715" y="1852509"/>
            <a:ext cx="4419599" cy="34907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rPr lang="en-US" b="1" dirty="0"/>
              <a:t>Conceptual Functional Equivalent (CFE)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ED792691-C980-7484-8305-6057CC72B0C3}"/>
              </a:ext>
            </a:extLst>
          </p:cNvPr>
          <p:cNvSpPr/>
          <p:nvPr/>
        </p:nvSpPr>
        <p:spPr>
          <a:xfrm>
            <a:off x="5027617" y="3854045"/>
            <a:ext cx="978090" cy="565785"/>
          </a:xfrm>
          <a:prstGeom prst="rightArrow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047623-002E-F971-C9BC-CE0CA16C3D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0460" y="1154667"/>
            <a:ext cx="1035653" cy="969408"/>
          </a:xfrm>
          <a:prstGeom prst="rect">
            <a:avLst/>
          </a:prstGeom>
        </p:spPr>
      </p:pic>
      <p:sp>
        <p:nvSpPr>
          <p:cNvPr id="7" name="CFE Header">
            <a:extLst>
              <a:ext uri="{FF2B5EF4-FFF2-40B4-BE49-F238E27FC236}">
                <a16:creationId xmlns:a16="http://schemas.microsoft.com/office/drawing/2014/main" id="{6D203406-F851-36F4-B1E8-E1A848D8F85B}"/>
              </a:ext>
            </a:extLst>
          </p:cNvPr>
          <p:cNvSpPr/>
          <p:nvPr/>
        </p:nvSpPr>
        <p:spPr>
          <a:xfrm>
            <a:off x="2419393" y="1194241"/>
            <a:ext cx="1834080" cy="88311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rPr lang="en-US" b="1" dirty="0"/>
              <a:t>AORC Meteorological Forcings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D6757E03-685C-592B-96C5-BC02A5934D3A}"/>
              </a:ext>
            </a:extLst>
          </p:cNvPr>
          <p:cNvSpPr/>
          <p:nvPr/>
        </p:nvSpPr>
        <p:spPr>
          <a:xfrm rot="5400000">
            <a:off x="1531202" y="2378710"/>
            <a:ext cx="676973" cy="507683"/>
          </a:xfrm>
          <a:prstGeom prst="rightArrow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41E2295-396C-1C3F-CA77-897DC5A19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672" y="1678125"/>
            <a:ext cx="642420" cy="64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F5E208B-2EEA-63E6-C256-CD26E1506C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672" y="3018893"/>
            <a:ext cx="3894605" cy="300946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B36AC0E-CD20-5E40-A90F-9E988E5DE766}"/>
              </a:ext>
            </a:extLst>
          </p:cNvPr>
          <p:cNvSpPr txBox="1"/>
          <p:nvPr/>
        </p:nvSpPr>
        <p:spPr>
          <a:xfrm>
            <a:off x="7535887" y="5308041"/>
            <a:ext cx="30352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https://doi.org/10.1111/1752-1688.70002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483E37-B7D5-A204-F260-135B37050268}"/>
              </a:ext>
            </a:extLst>
          </p:cNvPr>
          <p:cNvSpPr txBox="1"/>
          <p:nvPr/>
        </p:nvSpPr>
        <p:spPr>
          <a:xfrm>
            <a:off x="1257966" y="6103873"/>
            <a:ext cx="32520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https://alice-lab.com/noah-mp-land-surface-model/</a:t>
            </a:r>
          </a:p>
        </p:txBody>
      </p:sp>
      <p:sp>
        <p:nvSpPr>
          <p:cNvPr id="30" name="CFE Header">
            <a:extLst>
              <a:ext uri="{FF2B5EF4-FFF2-40B4-BE49-F238E27FC236}">
                <a16:creationId xmlns:a16="http://schemas.microsoft.com/office/drawing/2014/main" id="{018B9138-BB20-693C-3750-55A313D4CFB8}"/>
              </a:ext>
            </a:extLst>
          </p:cNvPr>
          <p:cNvSpPr/>
          <p:nvPr/>
        </p:nvSpPr>
        <p:spPr>
          <a:xfrm>
            <a:off x="1381404" y="3032722"/>
            <a:ext cx="3005137" cy="34907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r>
              <a:rPr lang="en-US" b="1" dirty="0"/>
              <a:t>BMI-Compliant Noah MP</a:t>
            </a:r>
          </a:p>
        </p:txBody>
      </p:sp>
      <p:sp>
        <p:nvSpPr>
          <p:cNvPr id="33" name="QINSUR Lbl 2">
            <a:extLst>
              <a:ext uri="{FF2B5EF4-FFF2-40B4-BE49-F238E27FC236}">
                <a16:creationId xmlns:a16="http://schemas.microsoft.com/office/drawing/2014/main" id="{8DA1115D-B5A1-35BD-0C58-B3EEECEFD6E6}"/>
              </a:ext>
            </a:extLst>
          </p:cNvPr>
          <p:cNvSpPr txBox="1"/>
          <p:nvPr/>
        </p:nvSpPr>
        <p:spPr>
          <a:xfrm>
            <a:off x="5027617" y="3360947"/>
            <a:ext cx="978090" cy="3979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100" b="0" dirty="0">
                <a:cs typeface="Aptos"/>
              </a:rPr>
              <a:t>Liquid water to soil surface</a:t>
            </a:r>
          </a:p>
        </p:txBody>
      </p:sp>
      <p:sp>
        <p:nvSpPr>
          <p:cNvPr id="34" name="EVAPO Lbl 2">
            <a:extLst>
              <a:ext uri="{FF2B5EF4-FFF2-40B4-BE49-F238E27FC236}">
                <a16:creationId xmlns:a16="http://schemas.microsoft.com/office/drawing/2014/main" id="{ACD716A1-B1AE-EE8F-25E7-1F4483E861A8}"/>
              </a:ext>
            </a:extLst>
          </p:cNvPr>
          <p:cNvSpPr txBox="1"/>
          <p:nvPr/>
        </p:nvSpPr>
        <p:spPr>
          <a:xfrm>
            <a:off x="5027617" y="4514955"/>
            <a:ext cx="935033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100" dirty="0">
                <a:cs typeface="Aptos"/>
              </a:rPr>
              <a:t>T</a:t>
            </a:r>
            <a:r>
              <a:rPr lang="en-US" sz="1100" b="0" dirty="0">
                <a:cs typeface="Aptos"/>
              </a:rPr>
              <a:t>otal ET flux</a:t>
            </a:r>
          </a:p>
        </p:txBody>
      </p:sp>
    </p:spTree>
    <p:extLst>
      <p:ext uri="{BB962C8B-B14F-4D97-AF65-F5344CB8AC3E}">
        <p14:creationId xmlns:p14="http://schemas.microsoft.com/office/powerpoint/2010/main" val="1323515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7005"/>
            <a:ext cx="12192000" cy="565785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pPr marL="342891"/>
            <a:r>
              <a:rPr lang="en-US" sz="4800" b="1" dirty="0">
                <a:solidFill>
                  <a:schemeClr val="tx1"/>
                </a:solidFill>
              </a:rPr>
              <a:t>Model Parameters</a:t>
            </a:r>
          </a:p>
        </p:txBody>
      </p:sp>
      <p:sp>
        <p:nvSpPr>
          <p:cNvPr id="11" name="TableHead"/>
          <p:cNvSpPr/>
          <p:nvPr/>
        </p:nvSpPr>
        <p:spPr>
          <a:xfrm>
            <a:off x="606698" y="1482675"/>
            <a:ext cx="5159699" cy="415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 rtlCol="0" anchor="ctr"/>
          <a:lstStyle/>
          <a:p>
            <a:endParaRPr lang="en-US" sz="1200"/>
          </a:p>
        </p:txBody>
      </p:sp>
      <p:sp>
        <p:nvSpPr>
          <p:cNvPr id="13" name="H1"/>
          <p:cNvSpPr txBox="1"/>
          <p:nvPr/>
        </p:nvSpPr>
        <p:spPr>
          <a:xfrm>
            <a:off x="606698" y="1482675"/>
            <a:ext cx="907200" cy="415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algn="ctr">
              <a:buNone/>
            </a:pPr>
            <a:r>
              <a:rPr lang="en-US" sz="1200" b="1" i="0" dirty="0">
                <a:solidFill>
                  <a:srgbClr val="FFFFFF"/>
                </a:solidFill>
                <a:latin typeface="Aptos"/>
                <a:cs typeface="Aptos"/>
              </a:rPr>
              <a:t>Param</a:t>
            </a:r>
          </a:p>
        </p:txBody>
      </p:sp>
      <p:sp>
        <p:nvSpPr>
          <p:cNvPr id="14" name="H2"/>
          <p:cNvSpPr txBox="1"/>
          <p:nvPr/>
        </p:nvSpPr>
        <p:spPr>
          <a:xfrm>
            <a:off x="1513898" y="1482675"/>
            <a:ext cx="2211300" cy="415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algn="l">
              <a:buNone/>
            </a:pPr>
            <a:r>
              <a:rPr lang="en-US" sz="1200" b="1" i="0" dirty="0">
                <a:solidFill>
                  <a:srgbClr val="FFFFFF"/>
                </a:solidFill>
                <a:latin typeface="Aptos"/>
                <a:cs typeface="Aptos"/>
              </a:rPr>
              <a:t>Description</a:t>
            </a:r>
          </a:p>
        </p:txBody>
      </p:sp>
      <p:sp>
        <p:nvSpPr>
          <p:cNvPr id="15" name="H3"/>
          <p:cNvSpPr txBox="1"/>
          <p:nvPr/>
        </p:nvSpPr>
        <p:spPr>
          <a:xfrm>
            <a:off x="3725198" y="1482675"/>
            <a:ext cx="510300" cy="415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algn="ctr">
              <a:buNone/>
            </a:pPr>
            <a:r>
              <a:rPr lang="en-US" sz="1200" b="1" i="0" dirty="0">
                <a:solidFill>
                  <a:srgbClr val="FFFFFF"/>
                </a:solidFill>
                <a:latin typeface="Aptos"/>
                <a:cs typeface="Aptos"/>
              </a:rPr>
              <a:t>Units</a:t>
            </a:r>
          </a:p>
        </p:txBody>
      </p:sp>
      <p:sp>
        <p:nvSpPr>
          <p:cNvPr id="16" name="H4"/>
          <p:cNvSpPr txBox="1"/>
          <p:nvPr/>
        </p:nvSpPr>
        <p:spPr>
          <a:xfrm>
            <a:off x="4235498" y="1482675"/>
            <a:ext cx="963900" cy="415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algn="ctr">
              <a:buNone/>
            </a:pPr>
            <a:r>
              <a:rPr lang="en-US" sz="1200" b="1" i="0" dirty="0">
                <a:solidFill>
                  <a:srgbClr val="FFFFFF"/>
                </a:solidFill>
                <a:latin typeface="Aptos"/>
                <a:cs typeface="Aptos"/>
              </a:rPr>
              <a:t>Range</a:t>
            </a:r>
          </a:p>
        </p:txBody>
      </p:sp>
      <p:sp>
        <p:nvSpPr>
          <p:cNvPr id="17" name="H5"/>
          <p:cNvSpPr txBox="1"/>
          <p:nvPr/>
        </p:nvSpPr>
        <p:spPr>
          <a:xfrm>
            <a:off x="5199398" y="1482675"/>
            <a:ext cx="567000" cy="415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algn="ctr">
              <a:buNone/>
            </a:pPr>
            <a:r>
              <a:rPr lang="en-US" sz="1200" b="1" i="0" dirty="0">
                <a:solidFill>
                  <a:srgbClr val="FFFFFF"/>
                </a:solidFill>
                <a:latin typeface="Aptos"/>
                <a:cs typeface="Aptos"/>
              </a:rPr>
              <a:t>Init</a:t>
            </a:r>
          </a:p>
        </p:txBody>
      </p:sp>
      <p:sp>
        <p:nvSpPr>
          <p:cNvPr id="18" name="Zebra0"/>
          <p:cNvSpPr/>
          <p:nvPr/>
        </p:nvSpPr>
        <p:spPr>
          <a:xfrm>
            <a:off x="606698" y="1897675"/>
            <a:ext cx="5159700" cy="41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endParaRPr lang="en-US" sz="1200"/>
          </a:p>
        </p:txBody>
      </p:sp>
      <p:sp>
        <p:nvSpPr>
          <p:cNvPr id="20" name="R0C1"/>
          <p:cNvSpPr txBox="1"/>
          <p:nvPr/>
        </p:nvSpPr>
        <p:spPr>
          <a:xfrm>
            <a:off x="606698" y="1897675"/>
            <a:ext cx="9072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1" i="0" dirty="0">
                <a:solidFill>
                  <a:srgbClr val="156082"/>
                </a:solidFill>
                <a:latin typeface="Consolas"/>
                <a:cs typeface="Consolas"/>
              </a:rPr>
              <a:t>b</a:t>
            </a:r>
          </a:p>
        </p:txBody>
      </p:sp>
      <p:sp>
        <p:nvSpPr>
          <p:cNvPr id="21" name="R0C2"/>
          <p:cNvSpPr txBox="1"/>
          <p:nvPr/>
        </p:nvSpPr>
        <p:spPr>
          <a:xfrm>
            <a:off x="1513898" y="1897675"/>
            <a:ext cx="22113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l">
              <a:buNone/>
            </a:pPr>
            <a:r>
              <a:rPr lang="en-US" sz="1200" b="0" i="0" dirty="0">
                <a:solidFill>
                  <a:srgbClr val="1F1F1F"/>
                </a:solidFill>
                <a:latin typeface="Aptos"/>
                <a:cs typeface="Aptos"/>
              </a:rPr>
              <a:t>Pore-size distribution exponent</a:t>
            </a:r>
          </a:p>
        </p:txBody>
      </p:sp>
      <p:sp>
        <p:nvSpPr>
          <p:cNvPr id="22" name="R0C3"/>
          <p:cNvSpPr txBox="1"/>
          <p:nvPr/>
        </p:nvSpPr>
        <p:spPr>
          <a:xfrm>
            <a:off x="3725198" y="1897675"/>
            <a:ext cx="5103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0" i="0" dirty="0">
                <a:solidFill>
                  <a:srgbClr val="1F1F1F"/>
                </a:solidFill>
                <a:latin typeface="Aptos"/>
                <a:cs typeface="Aptos"/>
              </a:rPr>
              <a:t>–</a:t>
            </a:r>
          </a:p>
        </p:txBody>
      </p:sp>
      <p:sp>
        <p:nvSpPr>
          <p:cNvPr id="23" name="R0C4"/>
          <p:cNvSpPr txBox="1"/>
          <p:nvPr/>
        </p:nvSpPr>
        <p:spPr>
          <a:xfrm>
            <a:off x="4235498" y="1897675"/>
            <a:ext cx="9639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0" i="0" dirty="0">
                <a:solidFill>
                  <a:srgbClr val="1F1F1F"/>
                </a:solidFill>
                <a:latin typeface="Consolas"/>
                <a:cs typeface="Consolas"/>
              </a:rPr>
              <a:t>2.0 – 15.0</a:t>
            </a:r>
          </a:p>
        </p:txBody>
      </p:sp>
      <p:sp>
        <p:nvSpPr>
          <p:cNvPr id="24" name="R0C5"/>
          <p:cNvSpPr txBox="1"/>
          <p:nvPr/>
        </p:nvSpPr>
        <p:spPr>
          <a:xfrm>
            <a:off x="5199398" y="1897675"/>
            <a:ext cx="5670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i="0" dirty="0">
                <a:solidFill>
                  <a:srgbClr val="1F1F1F"/>
                </a:solidFill>
                <a:latin typeface="Consolas"/>
                <a:cs typeface="Consolas"/>
              </a:rPr>
              <a:t>4.05</a:t>
            </a:r>
          </a:p>
        </p:txBody>
      </p:sp>
      <p:sp>
        <p:nvSpPr>
          <p:cNvPr id="26" name="R1C1"/>
          <p:cNvSpPr txBox="1"/>
          <p:nvPr/>
        </p:nvSpPr>
        <p:spPr>
          <a:xfrm>
            <a:off x="606698" y="2312675"/>
            <a:ext cx="9072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1" i="0" dirty="0">
                <a:solidFill>
                  <a:srgbClr val="156082"/>
                </a:solidFill>
                <a:latin typeface="Consolas"/>
                <a:cs typeface="Consolas"/>
              </a:rPr>
              <a:t>satpsi</a:t>
            </a:r>
          </a:p>
        </p:txBody>
      </p:sp>
      <p:sp>
        <p:nvSpPr>
          <p:cNvPr id="27" name="R1C2"/>
          <p:cNvSpPr txBox="1"/>
          <p:nvPr/>
        </p:nvSpPr>
        <p:spPr>
          <a:xfrm>
            <a:off x="1513898" y="2312675"/>
            <a:ext cx="22113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l">
              <a:buNone/>
            </a:pPr>
            <a:r>
              <a:rPr lang="en-US" sz="1200" b="0" i="0" dirty="0">
                <a:solidFill>
                  <a:srgbClr val="1F1F1F"/>
                </a:solidFill>
                <a:latin typeface="Aptos"/>
                <a:cs typeface="Aptos"/>
              </a:rPr>
              <a:t>Saturated capillary head</a:t>
            </a:r>
          </a:p>
        </p:txBody>
      </p:sp>
      <p:sp>
        <p:nvSpPr>
          <p:cNvPr id="28" name="R1C3"/>
          <p:cNvSpPr txBox="1"/>
          <p:nvPr/>
        </p:nvSpPr>
        <p:spPr>
          <a:xfrm>
            <a:off x="3725198" y="2312675"/>
            <a:ext cx="5103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0" i="0" dirty="0">
                <a:solidFill>
                  <a:srgbClr val="1F1F1F"/>
                </a:solidFill>
                <a:latin typeface="Aptos"/>
                <a:cs typeface="Aptos"/>
              </a:rPr>
              <a:t>m</a:t>
            </a:r>
          </a:p>
        </p:txBody>
      </p:sp>
      <p:sp>
        <p:nvSpPr>
          <p:cNvPr id="29" name="R1C4"/>
          <p:cNvSpPr txBox="1"/>
          <p:nvPr/>
        </p:nvSpPr>
        <p:spPr>
          <a:xfrm>
            <a:off x="4235498" y="2312675"/>
            <a:ext cx="9639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0" i="0" dirty="0">
                <a:solidFill>
                  <a:srgbClr val="1F1F1F"/>
                </a:solidFill>
                <a:latin typeface="Consolas"/>
                <a:cs typeface="Consolas"/>
              </a:rPr>
              <a:t>0.03 – 0.955</a:t>
            </a:r>
          </a:p>
        </p:txBody>
      </p:sp>
      <p:sp>
        <p:nvSpPr>
          <p:cNvPr id="30" name="R1C5"/>
          <p:cNvSpPr txBox="1"/>
          <p:nvPr/>
        </p:nvSpPr>
        <p:spPr>
          <a:xfrm>
            <a:off x="5199398" y="2312675"/>
            <a:ext cx="5670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i="0" dirty="0">
                <a:solidFill>
                  <a:srgbClr val="1F1F1F"/>
                </a:solidFill>
                <a:latin typeface="Consolas"/>
                <a:cs typeface="Consolas"/>
              </a:rPr>
              <a:t>0.355</a:t>
            </a:r>
          </a:p>
        </p:txBody>
      </p:sp>
      <p:sp>
        <p:nvSpPr>
          <p:cNvPr id="31" name="Zebra2"/>
          <p:cNvSpPr/>
          <p:nvPr/>
        </p:nvSpPr>
        <p:spPr>
          <a:xfrm>
            <a:off x="606698" y="2727675"/>
            <a:ext cx="5159700" cy="41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endParaRPr lang="en-US" sz="1200"/>
          </a:p>
        </p:txBody>
      </p:sp>
      <p:sp>
        <p:nvSpPr>
          <p:cNvPr id="33" name="R2C1"/>
          <p:cNvSpPr txBox="1"/>
          <p:nvPr/>
        </p:nvSpPr>
        <p:spPr>
          <a:xfrm>
            <a:off x="606698" y="2727675"/>
            <a:ext cx="9072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1" i="0" dirty="0">
                <a:solidFill>
                  <a:srgbClr val="156082"/>
                </a:solidFill>
                <a:latin typeface="Consolas"/>
                <a:cs typeface="Consolas"/>
              </a:rPr>
              <a:t>satdk</a:t>
            </a:r>
          </a:p>
        </p:txBody>
      </p:sp>
      <p:sp>
        <p:nvSpPr>
          <p:cNvPr id="34" name="R2C2"/>
          <p:cNvSpPr txBox="1"/>
          <p:nvPr/>
        </p:nvSpPr>
        <p:spPr>
          <a:xfrm>
            <a:off x="1513898" y="2727675"/>
            <a:ext cx="22113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l">
              <a:buNone/>
            </a:pPr>
            <a:r>
              <a:rPr lang="en-US" sz="1200" b="0" i="0" dirty="0">
                <a:solidFill>
                  <a:srgbClr val="1F1F1F"/>
                </a:solidFill>
                <a:latin typeface="Aptos"/>
                <a:cs typeface="Aptos"/>
              </a:rPr>
              <a:t>Saturated hydraulic conductivity</a:t>
            </a:r>
          </a:p>
        </p:txBody>
      </p:sp>
      <p:sp>
        <p:nvSpPr>
          <p:cNvPr id="35" name="R2C3"/>
          <p:cNvSpPr txBox="1"/>
          <p:nvPr/>
        </p:nvSpPr>
        <p:spPr>
          <a:xfrm>
            <a:off x="3725198" y="2727675"/>
            <a:ext cx="5103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0" i="0" dirty="0">
                <a:solidFill>
                  <a:srgbClr val="1F1F1F"/>
                </a:solidFill>
                <a:latin typeface="Aptos"/>
                <a:cs typeface="Aptos"/>
              </a:rPr>
              <a:t>m/s</a:t>
            </a:r>
          </a:p>
        </p:txBody>
      </p:sp>
      <p:sp>
        <p:nvSpPr>
          <p:cNvPr id="36" name="R2C4"/>
          <p:cNvSpPr txBox="1"/>
          <p:nvPr/>
        </p:nvSpPr>
        <p:spPr>
          <a:xfrm>
            <a:off x="4235498" y="2727675"/>
            <a:ext cx="9639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0" i="0" dirty="0">
                <a:solidFill>
                  <a:srgbClr val="1F1F1F"/>
                </a:solidFill>
                <a:latin typeface="Consolas"/>
                <a:cs typeface="Consolas"/>
              </a:rPr>
              <a:t>1.0e-7 – 7.26e-4</a:t>
            </a:r>
          </a:p>
        </p:txBody>
      </p:sp>
      <p:sp>
        <p:nvSpPr>
          <p:cNvPr id="37" name="R2C5"/>
          <p:cNvSpPr txBox="1"/>
          <p:nvPr/>
        </p:nvSpPr>
        <p:spPr>
          <a:xfrm>
            <a:off x="5199398" y="2727675"/>
            <a:ext cx="5670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i="0" dirty="0">
                <a:solidFill>
                  <a:srgbClr val="1F1F1F"/>
                </a:solidFill>
                <a:latin typeface="Consolas"/>
                <a:cs typeface="Consolas"/>
              </a:rPr>
              <a:t>3.38e-6</a:t>
            </a:r>
          </a:p>
        </p:txBody>
      </p:sp>
      <p:sp>
        <p:nvSpPr>
          <p:cNvPr id="39" name="R3C1"/>
          <p:cNvSpPr txBox="1"/>
          <p:nvPr/>
        </p:nvSpPr>
        <p:spPr>
          <a:xfrm>
            <a:off x="606698" y="3142675"/>
            <a:ext cx="9072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1" i="0" dirty="0">
                <a:solidFill>
                  <a:srgbClr val="156082"/>
                </a:solidFill>
                <a:latin typeface="Consolas"/>
                <a:cs typeface="Consolas"/>
              </a:rPr>
              <a:t>maxsmc</a:t>
            </a:r>
          </a:p>
        </p:txBody>
      </p:sp>
      <p:sp>
        <p:nvSpPr>
          <p:cNvPr id="40" name="R3C2"/>
          <p:cNvSpPr txBox="1"/>
          <p:nvPr/>
        </p:nvSpPr>
        <p:spPr>
          <a:xfrm>
            <a:off x="1513898" y="3142675"/>
            <a:ext cx="22113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l">
              <a:buNone/>
            </a:pPr>
            <a:r>
              <a:rPr lang="en-US" sz="1200" b="0" i="0" dirty="0">
                <a:solidFill>
                  <a:srgbClr val="1F1F1F"/>
                </a:solidFill>
                <a:latin typeface="Aptos"/>
                <a:cs typeface="Aptos"/>
              </a:rPr>
              <a:t>Saturated soil moisture (porosity)</a:t>
            </a:r>
          </a:p>
        </p:txBody>
      </p:sp>
      <p:sp>
        <p:nvSpPr>
          <p:cNvPr id="41" name="R3C3"/>
          <p:cNvSpPr txBox="1"/>
          <p:nvPr/>
        </p:nvSpPr>
        <p:spPr>
          <a:xfrm>
            <a:off x="3725198" y="3142675"/>
            <a:ext cx="5103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0" i="0" dirty="0">
                <a:solidFill>
                  <a:srgbClr val="1F1F1F"/>
                </a:solidFill>
                <a:latin typeface="Aptos"/>
                <a:cs typeface="Aptos"/>
              </a:rPr>
              <a:t>vol.</a:t>
            </a:r>
          </a:p>
        </p:txBody>
      </p:sp>
      <p:sp>
        <p:nvSpPr>
          <p:cNvPr id="42" name="R3C4"/>
          <p:cNvSpPr txBox="1"/>
          <p:nvPr/>
        </p:nvSpPr>
        <p:spPr>
          <a:xfrm>
            <a:off x="4235498" y="3142675"/>
            <a:ext cx="9639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0" i="0" dirty="0">
                <a:solidFill>
                  <a:srgbClr val="1F1F1F"/>
                </a:solidFill>
                <a:latin typeface="Consolas"/>
                <a:cs typeface="Consolas"/>
              </a:rPr>
              <a:t>0.16 – 0.59</a:t>
            </a:r>
          </a:p>
        </p:txBody>
      </p:sp>
      <p:sp>
        <p:nvSpPr>
          <p:cNvPr id="43" name="R3C5"/>
          <p:cNvSpPr txBox="1"/>
          <p:nvPr/>
        </p:nvSpPr>
        <p:spPr>
          <a:xfrm>
            <a:off x="5199398" y="3142675"/>
            <a:ext cx="5670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i="0" dirty="0">
                <a:solidFill>
                  <a:srgbClr val="1F1F1F"/>
                </a:solidFill>
                <a:latin typeface="Consolas"/>
                <a:cs typeface="Consolas"/>
              </a:rPr>
              <a:t>0.439</a:t>
            </a:r>
          </a:p>
        </p:txBody>
      </p:sp>
      <p:sp>
        <p:nvSpPr>
          <p:cNvPr id="44" name="Zebra4"/>
          <p:cNvSpPr/>
          <p:nvPr/>
        </p:nvSpPr>
        <p:spPr>
          <a:xfrm>
            <a:off x="606696" y="3557675"/>
            <a:ext cx="5159701" cy="41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endParaRPr lang="en-US" sz="1200"/>
          </a:p>
        </p:txBody>
      </p:sp>
      <p:sp>
        <p:nvSpPr>
          <p:cNvPr id="46" name="R4C1"/>
          <p:cNvSpPr txBox="1"/>
          <p:nvPr/>
        </p:nvSpPr>
        <p:spPr>
          <a:xfrm>
            <a:off x="606698" y="3557675"/>
            <a:ext cx="9072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1" i="0" dirty="0">
                <a:solidFill>
                  <a:srgbClr val="156082"/>
                </a:solidFill>
                <a:latin typeface="Consolas"/>
                <a:cs typeface="Consolas"/>
              </a:rPr>
              <a:t>refkdt</a:t>
            </a:r>
          </a:p>
        </p:txBody>
      </p:sp>
      <p:sp>
        <p:nvSpPr>
          <p:cNvPr id="47" name="R4C2"/>
          <p:cNvSpPr txBox="1"/>
          <p:nvPr/>
        </p:nvSpPr>
        <p:spPr>
          <a:xfrm>
            <a:off x="1513898" y="3557675"/>
            <a:ext cx="22113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l">
              <a:buNone/>
            </a:pPr>
            <a:r>
              <a:rPr lang="en-US" sz="1200" b="0" i="0" dirty="0">
                <a:solidFill>
                  <a:srgbClr val="1F1F1F"/>
                </a:solidFill>
                <a:latin typeface="Aptos"/>
                <a:cs typeface="Aptos"/>
              </a:rPr>
              <a:t>Schaake surface runoff partitioning</a:t>
            </a:r>
          </a:p>
        </p:txBody>
      </p:sp>
      <p:sp>
        <p:nvSpPr>
          <p:cNvPr id="48" name="R4C3"/>
          <p:cNvSpPr txBox="1"/>
          <p:nvPr/>
        </p:nvSpPr>
        <p:spPr>
          <a:xfrm>
            <a:off x="3725198" y="3557675"/>
            <a:ext cx="5103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0" i="0" dirty="0">
                <a:solidFill>
                  <a:srgbClr val="1F1F1F"/>
                </a:solidFill>
                <a:latin typeface="Aptos"/>
                <a:cs typeface="Aptos"/>
              </a:rPr>
              <a:t>–</a:t>
            </a:r>
          </a:p>
        </p:txBody>
      </p:sp>
      <p:sp>
        <p:nvSpPr>
          <p:cNvPr id="49" name="R4C4"/>
          <p:cNvSpPr txBox="1"/>
          <p:nvPr/>
        </p:nvSpPr>
        <p:spPr>
          <a:xfrm>
            <a:off x="4235498" y="3557675"/>
            <a:ext cx="9639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0" i="0" dirty="0">
                <a:solidFill>
                  <a:srgbClr val="1F1F1F"/>
                </a:solidFill>
                <a:latin typeface="Consolas"/>
                <a:cs typeface="Consolas"/>
              </a:rPr>
              <a:t>0.1 – 4.0</a:t>
            </a:r>
          </a:p>
        </p:txBody>
      </p:sp>
      <p:sp>
        <p:nvSpPr>
          <p:cNvPr id="50" name="R4C5"/>
          <p:cNvSpPr txBox="1"/>
          <p:nvPr/>
        </p:nvSpPr>
        <p:spPr>
          <a:xfrm>
            <a:off x="5199398" y="3557675"/>
            <a:ext cx="5670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i="0" dirty="0">
                <a:solidFill>
                  <a:srgbClr val="1F1F1F"/>
                </a:solidFill>
                <a:latin typeface="Consolas"/>
                <a:cs typeface="Consolas"/>
              </a:rPr>
              <a:t>1.0</a:t>
            </a:r>
          </a:p>
        </p:txBody>
      </p:sp>
      <p:sp>
        <p:nvSpPr>
          <p:cNvPr id="52" name="R5C1"/>
          <p:cNvSpPr txBox="1"/>
          <p:nvPr/>
        </p:nvSpPr>
        <p:spPr>
          <a:xfrm>
            <a:off x="606698" y="3972675"/>
            <a:ext cx="9072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1" i="0" dirty="0">
                <a:solidFill>
                  <a:srgbClr val="156082"/>
                </a:solidFill>
                <a:latin typeface="Consolas"/>
                <a:cs typeface="Consolas"/>
              </a:rPr>
              <a:t>slope</a:t>
            </a:r>
          </a:p>
        </p:txBody>
      </p:sp>
      <p:sp>
        <p:nvSpPr>
          <p:cNvPr id="53" name="R5C2"/>
          <p:cNvSpPr txBox="1"/>
          <p:nvPr/>
        </p:nvSpPr>
        <p:spPr>
          <a:xfrm>
            <a:off x="1513898" y="3972675"/>
            <a:ext cx="22113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l">
              <a:buNone/>
            </a:pPr>
            <a:r>
              <a:rPr lang="en-US" sz="1200" b="0" i="0" dirty="0">
                <a:solidFill>
                  <a:srgbClr val="1F1F1F"/>
                </a:solidFill>
                <a:latin typeface="Aptos"/>
                <a:cs typeface="Aptos"/>
              </a:rPr>
              <a:t>Bottom-of-soil drainage coefficient</a:t>
            </a:r>
          </a:p>
        </p:txBody>
      </p:sp>
      <p:sp>
        <p:nvSpPr>
          <p:cNvPr id="54" name="R5C3"/>
          <p:cNvSpPr txBox="1"/>
          <p:nvPr/>
        </p:nvSpPr>
        <p:spPr>
          <a:xfrm>
            <a:off x="3725198" y="3972675"/>
            <a:ext cx="5103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0" i="0" dirty="0">
                <a:solidFill>
                  <a:srgbClr val="1F1F1F"/>
                </a:solidFill>
                <a:latin typeface="Aptos"/>
                <a:cs typeface="Aptos"/>
              </a:rPr>
              <a:t>–</a:t>
            </a:r>
          </a:p>
        </p:txBody>
      </p:sp>
      <p:sp>
        <p:nvSpPr>
          <p:cNvPr id="55" name="R5C4"/>
          <p:cNvSpPr txBox="1"/>
          <p:nvPr/>
        </p:nvSpPr>
        <p:spPr>
          <a:xfrm>
            <a:off x="4235498" y="3972675"/>
            <a:ext cx="9639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0" i="0" dirty="0">
                <a:solidFill>
                  <a:srgbClr val="1F1F1F"/>
                </a:solidFill>
                <a:latin typeface="Consolas"/>
                <a:cs typeface="Consolas"/>
              </a:rPr>
              <a:t>0.0 – 1.0</a:t>
            </a:r>
          </a:p>
        </p:txBody>
      </p:sp>
      <p:sp>
        <p:nvSpPr>
          <p:cNvPr id="56" name="R5C5"/>
          <p:cNvSpPr txBox="1"/>
          <p:nvPr/>
        </p:nvSpPr>
        <p:spPr>
          <a:xfrm>
            <a:off x="5199398" y="3972675"/>
            <a:ext cx="5670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i="0" dirty="0">
                <a:solidFill>
                  <a:srgbClr val="1F1F1F"/>
                </a:solidFill>
                <a:latin typeface="Consolas"/>
                <a:cs typeface="Consolas"/>
              </a:rPr>
              <a:t>0.1</a:t>
            </a:r>
          </a:p>
        </p:txBody>
      </p:sp>
      <p:sp>
        <p:nvSpPr>
          <p:cNvPr id="57" name="Zebra6"/>
          <p:cNvSpPr/>
          <p:nvPr/>
        </p:nvSpPr>
        <p:spPr>
          <a:xfrm>
            <a:off x="606696" y="4387675"/>
            <a:ext cx="5159702" cy="41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endParaRPr lang="en-US" sz="1200"/>
          </a:p>
        </p:txBody>
      </p:sp>
      <p:sp>
        <p:nvSpPr>
          <p:cNvPr id="59" name="R6C1"/>
          <p:cNvSpPr txBox="1"/>
          <p:nvPr/>
        </p:nvSpPr>
        <p:spPr>
          <a:xfrm>
            <a:off x="606698" y="4387675"/>
            <a:ext cx="9072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1" i="0" dirty="0">
                <a:solidFill>
                  <a:srgbClr val="156082"/>
                </a:solidFill>
                <a:latin typeface="Consolas"/>
                <a:cs typeface="Consolas"/>
              </a:rPr>
              <a:t>Klf</a:t>
            </a:r>
          </a:p>
        </p:txBody>
      </p:sp>
      <p:sp>
        <p:nvSpPr>
          <p:cNvPr id="60" name="R6C2"/>
          <p:cNvSpPr txBox="1"/>
          <p:nvPr/>
        </p:nvSpPr>
        <p:spPr>
          <a:xfrm>
            <a:off x="1513898" y="4387675"/>
            <a:ext cx="22113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l">
              <a:buNone/>
            </a:pPr>
            <a:r>
              <a:rPr lang="en-US" sz="1200" b="0" i="0" dirty="0">
                <a:solidFill>
                  <a:srgbClr val="1F1F1F"/>
                </a:solidFill>
                <a:latin typeface="Aptos"/>
                <a:cs typeface="Aptos"/>
              </a:rPr>
              <a:t>Lateral subsurface flow constant</a:t>
            </a:r>
          </a:p>
        </p:txBody>
      </p:sp>
      <p:sp>
        <p:nvSpPr>
          <p:cNvPr id="61" name="R6C3"/>
          <p:cNvSpPr txBox="1"/>
          <p:nvPr/>
        </p:nvSpPr>
        <p:spPr>
          <a:xfrm>
            <a:off x="3725198" y="4387675"/>
            <a:ext cx="5103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0" i="0" dirty="0">
                <a:solidFill>
                  <a:srgbClr val="1F1F1F"/>
                </a:solidFill>
                <a:latin typeface="Aptos"/>
                <a:cs typeface="Aptos"/>
              </a:rPr>
              <a:t>–</a:t>
            </a:r>
          </a:p>
        </p:txBody>
      </p:sp>
      <p:sp>
        <p:nvSpPr>
          <p:cNvPr id="62" name="R6C4"/>
          <p:cNvSpPr txBox="1"/>
          <p:nvPr/>
        </p:nvSpPr>
        <p:spPr>
          <a:xfrm>
            <a:off x="4235498" y="4387675"/>
            <a:ext cx="9639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0" i="0" dirty="0">
                <a:solidFill>
                  <a:srgbClr val="1F1F1F"/>
                </a:solidFill>
                <a:latin typeface="Consolas"/>
                <a:cs typeface="Consolas"/>
              </a:rPr>
              <a:t>0.0 – 1.0</a:t>
            </a:r>
          </a:p>
        </p:txBody>
      </p:sp>
      <p:sp>
        <p:nvSpPr>
          <p:cNvPr id="63" name="R6C5"/>
          <p:cNvSpPr txBox="1"/>
          <p:nvPr/>
        </p:nvSpPr>
        <p:spPr>
          <a:xfrm>
            <a:off x="5199398" y="4387675"/>
            <a:ext cx="5670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i="0" dirty="0">
                <a:solidFill>
                  <a:srgbClr val="1F1F1F"/>
                </a:solidFill>
                <a:latin typeface="Consolas"/>
                <a:cs typeface="Consolas"/>
              </a:rPr>
              <a:t>0.01</a:t>
            </a:r>
          </a:p>
        </p:txBody>
      </p:sp>
      <p:sp>
        <p:nvSpPr>
          <p:cNvPr id="65" name="R7C1"/>
          <p:cNvSpPr txBox="1"/>
          <p:nvPr/>
        </p:nvSpPr>
        <p:spPr>
          <a:xfrm>
            <a:off x="606698" y="4802675"/>
            <a:ext cx="9072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1" i="0" dirty="0">
                <a:solidFill>
                  <a:srgbClr val="156082"/>
                </a:solidFill>
                <a:latin typeface="Consolas"/>
                <a:cs typeface="Consolas"/>
              </a:rPr>
              <a:t>Kn</a:t>
            </a:r>
          </a:p>
        </p:txBody>
      </p:sp>
      <p:sp>
        <p:nvSpPr>
          <p:cNvPr id="66" name="R7C2"/>
          <p:cNvSpPr txBox="1"/>
          <p:nvPr/>
        </p:nvSpPr>
        <p:spPr>
          <a:xfrm>
            <a:off x="1513898" y="4802675"/>
            <a:ext cx="22113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l">
              <a:buNone/>
            </a:pPr>
            <a:r>
              <a:rPr lang="en-US" sz="1200" b="0" i="0" dirty="0">
                <a:solidFill>
                  <a:srgbClr val="1F1F1F"/>
                </a:solidFill>
                <a:latin typeface="Aptos"/>
                <a:cs typeface="Aptos"/>
              </a:rPr>
              <a:t>Nash-cascade routing coefficient</a:t>
            </a:r>
          </a:p>
        </p:txBody>
      </p:sp>
      <p:sp>
        <p:nvSpPr>
          <p:cNvPr id="67" name="R7C3"/>
          <p:cNvSpPr txBox="1"/>
          <p:nvPr/>
        </p:nvSpPr>
        <p:spPr>
          <a:xfrm>
            <a:off x="3725198" y="4802675"/>
            <a:ext cx="5103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0" i="0" dirty="0">
                <a:solidFill>
                  <a:srgbClr val="1F1F1F"/>
                </a:solidFill>
                <a:latin typeface="Aptos"/>
                <a:cs typeface="Aptos"/>
              </a:rPr>
              <a:t>–</a:t>
            </a:r>
          </a:p>
        </p:txBody>
      </p:sp>
      <p:sp>
        <p:nvSpPr>
          <p:cNvPr id="68" name="R7C4"/>
          <p:cNvSpPr txBox="1"/>
          <p:nvPr/>
        </p:nvSpPr>
        <p:spPr>
          <a:xfrm>
            <a:off x="4235498" y="4802675"/>
            <a:ext cx="9639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0" i="0" dirty="0">
                <a:solidFill>
                  <a:srgbClr val="1F1F1F"/>
                </a:solidFill>
                <a:latin typeface="Consolas"/>
                <a:cs typeface="Consolas"/>
              </a:rPr>
              <a:t>0.0 – 1.0</a:t>
            </a:r>
          </a:p>
        </p:txBody>
      </p:sp>
      <p:sp>
        <p:nvSpPr>
          <p:cNvPr id="69" name="R7C5"/>
          <p:cNvSpPr txBox="1"/>
          <p:nvPr/>
        </p:nvSpPr>
        <p:spPr>
          <a:xfrm>
            <a:off x="5199398" y="4802675"/>
            <a:ext cx="5670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i="0" dirty="0">
                <a:solidFill>
                  <a:srgbClr val="1F1F1F"/>
                </a:solidFill>
                <a:latin typeface="Consolas"/>
                <a:cs typeface="Consolas"/>
              </a:rPr>
              <a:t>0.03</a:t>
            </a:r>
          </a:p>
        </p:txBody>
      </p:sp>
      <p:sp>
        <p:nvSpPr>
          <p:cNvPr id="70" name="Zebra8"/>
          <p:cNvSpPr/>
          <p:nvPr/>
        </p:nvSpPr>
        <p:spPr>
          <a:xfrm>
            <a:off x="606694" y="5217675"/>
            <a:ext cx="5159703" cy="41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endParaRPr lang="en-US" sz="1200"/>
          </a:p>
        </p:txBody>
      </p:sp>
      <p:sp>
        <p:nvSpPr>
          <p:cNvPr id="72" name="R8C1"/>
          <p:cNvSpPr txBox="1"/>
          <p:nvPr/>
        </p:nvSpPr>
        <p:spPr>
          <a:xfrm>
            <a:off x="606698" y="5217675"/>
            <a:ext cx="9072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1" i="0" dirty="0">
                <a:solidFill>
                  <a:srgbClr val="156082"/>
                </a:solidFill>
                <a:latin typeface="Consolas"/>
                <a:cs typeface="Consolas"/>
              </a:rPr>
              <a:t>max_gw_storage</a:t>
            </a:r>
          </a:p>
        </p:txBody>
      </p:sp>
      <p:sp>
        <p:nvSpPr>
          <p:cNvPr id="73" name="R8C2"/>
          <p:cNvSpPr txBox="1"/>
          <p:nvPr/>
        </p:nvSpPr>
        <p:spPr>
          <a:xfrm>
            <a:off x="1513898" y="5217675"/>
            <a:ext cx="22113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l">
              <a:buNone/>
            </a:pPr>
            <a:r>
              <a:rPr lang="en-US" sz="1200" b="0" i="0" dirty="0">
                <a:solidFill>
                  <a:srgbClr val="1F1F1F"/>
                </a:solidFill>
                <a:latin typeface="Aptos"/>
                <a:cs typeface="Aptos"/>
              </a:rPr>
              <a:t>Max GW reservoir storage</a:t>
            </a:r>
          </a:p>
        </p:txBody>
      </p:sp>
      <p:sp>
        <p:nvSpPr>
          <p:cNvPr id="74" name="R8C3"/>
          <p:cNvSpPr txBox="1"/>
          <p:nvPr/>
        </p:nvSpPr>
        <p:spPr>
          <a:xfrm>
            <a:off x="3725198" y="5217675"/>
            <a:ext cx="5103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0" i="0" dirty="0">
                <a:solidFill>
                  <a:srgbClr val="1F1F1F"/>
                </a:solidFill>
                <a:latin typeface="Aptos"/>
                <a:cs typeface="Aptos"/>
              </a:rPr>
              <a:t>m</a:t>
            </a:r>
          </a:p>
        </p:txBody>
      </p:sp>
      <p:sp>
        <p:nvSpPr>
          <p:cNvPr id="75" name="R8C4"/>
          <p:cNvSpPr txBox="1"/>
          <p:nvPr/>
        </p:nvSpPr>
        <p:spPr>
          <a:xfrm>
            <a:off x="4235498" y="5217675"/>
            <a:ext cx="9639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0" i="0" dirty="0">
                <a:solidFill>
                  <a:srgbClr val="1F1F1F"/>
                </a:solidFill>
                <a:latin typeface="Consolas"/>
                <a:cs typeface="Consolas"/>
              </a:rPr>
              <a:t>0.01 – 0.25</a:t>
            </a:r>
          </a:p>
        </p:txBody>
      </p:sp>
      <p:sp>
        <p:nvSpPr>
          <p:cNvPr id="76" name="R8C5"/>
          <p:cNvSpPr txBox="1"/>
          <p:nvPr/>
        </p:nvSpPr>
        <p:spPr>
          <a:xfrm>
            <a:off x="5199398" y="5217675"/>
            <a:ext cx="5670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i="0" dirty="0">
                <a:solidFill>
                  <a:srgbClr val="1F1F1F"/>
                </a:solidFill>
                <a:latin typeface="Consolas"/>
                <a:cs typeface="Consolas"/>
              </a:rPr>
              <a:t>0.05</a:t>
            </a:r>
          </a:p>
        </p:txBody>
      </p:sp>
      <p:sp>
        <p:nvSpPr>
          <p:cNvPr id="78" name="R9C1"/>
          <p:cNvSpPr txBox="1"/>
          <p:nvPr/>
        </p:nvSpPr>
        <p:spPr>
          <a:xfrm>
            <a:off x="606698" y="5632675"/>
            <a:ext cx="9072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1" i="0" dirty="0">
                <a:solidFill>
                  <a:srgbClr val="156082"/>
                </a:solidFill>
                <a:latin typeface="Consolas"/>
                <a:cs typeface="Consolas"/>
              </a:rPr>
              <a:t>expon</a:t>
            </a:r>
          </a:p>
        </p:txBody>
      </p:sp>
      <p:sp>
        <p:nvSpPr>
          <p:cNvPr id="79" name="R9C2"/>
          <p:cNvSpPr txBox="1"/>
          <p:nvPr/>
        </p:nvSpPr>
        <p:spPr>
          <a:xfrm>
            <a:off x="1513898" y="5632675"/>
            <a:ext cx="22113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l">
              <a:buNone/>
            </a:pPr>
            <a:r>
              <a:rPr lang="en-US" sz="1200" b="0" i="0" dirty="0">
                <a:solidFill>
                  <a:srgbClr val="1F1F1F"/>
                </a:solidFill>
                <a:latin typeface="Aptos"/>
                <a:cs typeface="Aptos"/>
              </a:rPr>
              <a:t>Nonlinear GW reservoir exponent</a:t>
            </a:r>
          </a:p>
        </p:txBody>
      </p:sp>
      <p:sp>
        <p:nvSpPr>
          <p:cNvPr id="80" name="R9C3"/>
          <p:cNvSpPr txBox="1"/>
          <p:nvPr/>
        </p:nvSpPr>
        <p:spPr>
          <a:xfrm>
            <a:off x="3725198" y="5632675"/>
            <a:ext cx="5103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0" i="0" dirty="0">
                <a:solidFill>
                  <a:srgbClr val="1F1F1F"/>
                </a:solidFill>
                <a:latin typeface="Aptos"/>
                <a:cs typeface="Aptos"/>
              </a:rPr>
              <a:t>–</a:t>
            </a:r>
          </a:p>
        </p:txBody>
      </p:sp>
      <p:sp>
        <p:nvSpPr>
          <p:cNvPr id="81" name="R9C4"/>
          <p:cNvSpPr txBox="1"/>
          <p:nvPr/>
        </p:nvSpPr>
        <p:spPr>
          <a:xfrm>
            <a:off x="4235498" y="5632675"/>
            <a:ext cx="9639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0" i="0" dirty="0">
                <a:solidFill>
                  <a:srgbClr val="1F1F1F"/>
                </a:solidFill>
                <a:latin typeface="Consolas"/>
                <a:cs typeface="Consolas"/>
              </a:rPr>
              <a:t>1.0 – 8.0</a:t>
            </a:r>
          </a:p>
        </p:txBody>
      </p:sp>
      <p:sp>
        <p:nvSpPr>
          <p:cNvPr id="82" name="R9C5"/>
          <p:cNvSpPr txBox="1"/>
          <p:nvPr/>
        </p:nvSpPr>
        <p:spPr>
          <a:xfrm>
            <a:off x="5199398" y="5632675"/>
            <a:ext cx="5670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i="0" dirty="0">
                <a:solidFill>
                  <a:srgbClr val="1F1F1F"/>
                </a:solidFill>
                <a:latin typeface="Consolas"/>
                <a:cs typeface="Consolas"/>
              </a:rPr>
              <a:t>3.0</a:t>
            </a:r>
          </a:p>
        </p:txBody>
      </p:sp>
      <p:sp>
        <p:nvSpPr>
          <p:cNvPr id="83" name="Zebra10"/>
          <p:cNvSpPr/>
          <p:nvPr/>
        </p:nvSpPr>
        <p:spPr>
          <a:xfrm>
            <a:off x="686748" y="6047675"/>
            <a:ext cx="5079650" cy="41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endParaRPr lang="en-US" sz="1200"/>
          </a:p>
        </p:txBody>
      </p:sp>
      <p:sp>
        <p:nvSpPr>
          <p:cNvPr id="85" name="R10C1"/>
          <p:cNvSpPr txBox="1"/>
          <p:nvPr/>
        </p:nvSpPr>
        <p:spPr>
          <a:xfrm>
            <a:off x="606698" y="6047675"/>
            <a:ext cx="9072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1" i="0" dirty="0">
                <a:solidFill>
                  <a:srgbClr val="156082"/>
                </a:solidFill>
                <a:latin typeface="Consolas"/>
                <a:cs typeface="Consolas"/>
              </a:rPr>
              <a:t>Cgw</a:t>
            </a:r>
          </a:p>
        </p:txBody>
      </p:sp>
      <p:sp>
        <p:nvSpPr>
          <p:cNvPr id="86" name="R10C2"/>
          <p:cNvSpPr txBox="1"/>
          <p:nvPr/>
        </p:nvSpPr>
        <p:spPr>
          <a:xfrm>
            <a:off x="1513898" y="6047675"/>
            <a:ext cx="22113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l">
              <a:buNone/>
            </a:pPr>
            <a:r>
              <a:rPr lang="en-US" sz="1200" b="0" i="0" dirty="0">
                <a:solidFill>
                  <a:srgbClr val="1F1F1F"/>
                </a:solidFill>
                <a:latin typeface="Aptos"/>
                <a:cs typeface="Aptos"/>
              </a:rPr>
              <a:t>GW-to-channel discharge coefficient</a:t>
            </a:r>
          </a:p>
        </p:txBody>
      </p:sp>
      <p:sp>
        <p:nvSpPr>
          <p:cNvPr id="87" name="R10C3"/>
          <p:cNvSpPr txBox="1"/>
          <p:nvPr/>
        </p:nvSpPr>
        <p:spPr>
          <a:xfrm>
            <a:off x="3725198" y="6047675"/>
            <a:ext cx="5103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0" i="0" dirty="0">
                <a:solidFill>
                  <a:srgbClr val="1F1F1F"/>
                </a:solidFill>
                <a:latin typeface="Aptos"/>
                <a:cs typeface="Aptos"/>
              </a:rPr>
              <a:t>m/hr</a:t>
            </a:r>
          </a:p>
        </p:txBody>
      </p:sp>
      <p:sp>
        <p:nvSpPr>
          <p:cNvPr id="88" name="R10C4"/>
          <p:cNvSpPr txBox="1"/>
          <p:nvPr/>
        </p:nvSpPr>
        <p:spPr>
          <a:xfrm>
            <a:off x="4235498" y="6047675"/>
            <a:ext cx="9639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0" i="0" dirty="0">
                <a:solidFill>
                  <a:srgbClr val="1F1F1F"/>
                </a:solidFill>
                <a:latin typeface="Consolas"/>
                <a:cs typeface="Consolas"/>
              </a:rPr>
              <a:t>1.8e-6 – 1.8e-3</a:t>
            </a:r>
          </a:p>
        </p:txBody>
      </p:sp>
      <p:sp>
        <p:nvSpPr>
          <p:cNvPr id="89" name="R10C5"/>
          <p:cNvSpPr txBox="1"/>
          <p:nvPr/>
        </p:nvSpPr>
        <p:spPr>
          <a:xfrm>
            <a:off x="5199398" y="6047675"/>
            <a:ext cx="5670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i="0" dirty="0">
                <a:solidFill>
                  <a:srgbClr val="1F1F1F"/>
                </a:solidFill>
                <a:latin typeface="Consolas"/>
                <a:cs typeface="Consolas"/>
              </a:rPr>
              <a:t>1.8e-5</a:t>
            </a:r>
          </a:p>
        </p:txBody>
      </p:sp>
      <p:sp>
        <p:nvSpPr>
          <p:cNvPr id="91" name="TableHead"/>
          <p:cNvSpPr/>
          <p:nvPr/>
        </p:nvSpPr>
        <p:spPr>
          <a:xfrm>
            <a:off x="6446799" y="1482675"/>
            <a:ext cx="5159700" cy="41500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txBody>
          <a:bodyPr rtlCol="0" anchor="ctr"/>
          <a:lstStyle/>
          <a:p>
            <a:endParaRPr lang="en-US" sz="1200"/>
          </a:p>
        </p:txBody>
      </p:sp>
      <p:sp>
        <p:nvSpPr>
          <p:cNvPr id="93" name="H1"/>
          <p:cNvSpPr txBox="1"/>
          <p:nvPr/>
        </p:nvSpPr>
        <p:spPr>
          <a:xfrm>
            <a:off x="6446800" y="1482675"/>
            <a:ext cx="907200" cy="415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algn="ctr">
              <a:buNone/>
            </a:pPr>
            <a:r>
              <a:rPr lang="en-US" sz="1200" b="1" i="0" dirty="0">
                <a:solidFill>
                  <a:srgbClr val="FFFFFF"/>
                </a:solidFill>
                <a:latin typeface="Aptos"/>
                <a:cs typeface="Aptos"/>
              </a:rPr>
              <a:t>Param</a:t>
            </a:r>
          </a:p>
        </p:txBody>
      </p:sp>
      <p:sp>
        <p:nvSpPr>
          <p:cNvPr id="94" name="H2"/>
          <p:cNvSpPr txBox="1"/>
          <p:nvPr/>
        </p:nvSpPr>
        <p:spPr>
          <a:xfrm>
            <a:off x="7354000" y="1482675"/>
            <a:ext cx="2211300" cy="415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algn="l">
              <a:buNone/>
            </a:pPr>
            <a:r>
              <a:rPr lang="en-US" sz="1200" b="1" i="0" dirty="0">
                <a:solidFill>
                  <a:srgbClr val="FFFFFF"/>
                </a:solidFill>
                <a:latin typeface="Aptos"/>
                <a:cs typeface="Aptos"/>
              </a:rPr>
              <a:t>Description</a:t>
            </a:r>
          </a:p>
        </p:txBody>
      </p:sp>
      <p:sp>
        <p:nvSpPr>
          <p:cNvPr id="95" name="H3"/>
          <p:cNvSpPr txBox="1"/>
          <p:nvPr/>
        </p:nvSpPr>
        <p:spPr>
          <a:xfrm>
            <a:off x="9565300" y="1482675"/>
            <a:ext cx="510300" cy="415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algn="ctr">
              <a:buNone/>
            </a:pPr>
            <a:r>
              <a:rPr lang="en-US" sz="1200" b="1" i="0" dirty="0">
                <a:solidFill>
                  <a:srgbClr val="FFFFFF"/>
                </a:solidFill>
                <a:latin typeface="Aptos"/>
                <a:cs typeface="Aptos"/>
              </a:rPr>
              <a:t>Units</a:t>
            </a:r>
          </a:p>
        </p:txBody>
      </p:sp>
      <p:sp>
        <p:nvSpPr>
          <p:cNvPr id="96" name="H4"/>
          <p:cNvSpPr txBox="1"/>
          <p:nvPr/>
        </p:nvSpPr>
        <p:spPr>
          <a:xfrm>
            <a:off x="10075600" y="1482675"/>
            <a:ext cx="963900" cy="415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algn="ctr">
              <a:buNone/>
            </a:pPr>
            <a:r>
              <a:rPr lang="en-US" sz="1200" b="1" i="0" dirty="0">
                <a:solidFill>
                  <a:srgbClr val="FFFFFF"/>
                </a:solidFill>
                <a:latin typeface="Aptos"/>
                <a:cs typeface="Aptos"/>
              </a:rPr>
              <a:t>Range</a:t>
            </a:r>
          </a:p>
        </p:txBody>
      </p:sp>
      <p:sp>
        <p:nvSpPr>
          <p:cNvPr id="97" name="H5"/>
          <p:cNvSpPr txBox="1"/>
          <p:nvPr/>
        </p:nvSpPr>
        <p:spPr>
          <a:xfrm>
            <a:off x="11039500" y="1482675"/>
            <a:ext cx="567000" cy="415000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algn="ctr">
              <a:buNone/>
            </a:pPr>
            <a:r>
              <a:rPr lang="en-US" sz="1200" b="1" i="0" dirty="0">
                <a:solidFill>
                  <a:srgbClr val="FFFFFF"/>
                </a:solidFill>
                <a:latin typeface="Aptos"/>
                <a:cs typeface="Aptos"/>
              </a:rPr>
              <a:t>Init</a:t>
            </a:r>
          </a:p>
        </p:txBody>
      </p:sp>
      <p:sp>
        <p:nvSpPr>
          <p:cNvPr id="98" name="Zebra0"/>
          <p:cNvSpPr/>
          <p:nvPr/>
        </p:nvSpPr>
        <p:spPr>
          <a:xfrm>
            <a:off x="6446798" y="1897675"/>
            <a:ext cx="5159702" cy="41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endParaRPr lang="en-US" sz="1200"/>
          </a:p>
        </p:txBody>
      </p:sp>
      <p:sp>
        <p:nvSpPr>
          <p:cNvPr id="100" name="R0C1"/>
          <p:cNvSpPr txBox="1"/>
          <p:nvPr/>
        </p:nvSpPr>
        <p:spPr>
          <a:xfrm>
            <a:off x="6446800" y="1897675"/>
            <a:ext cx="9072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1" i="0" dirty="0">
                <a:solidFill>
                  <a:srgbClr val="196B24"/>
                </a:solidFill>
                <a:latin typeface="Consolas"/>
                <a:cs typeface="Consolas"/>
              </a:rPr>
              <a:t>RSURF_EXP</a:t>
            </a:r>
          </a:p>
        </p:txBody>
      </p:sp>
      <p:sp>
        <p:nvSpPr>
          <p:cNvPr id="101" name="R0C2"/>
          <p:cNvSpPr txBox="1"/>
          <p:nvPr/>
        </p:nvSpPr>
        <p:spPr>
          <a:xfrm>
            <a:off x="7354000" y="1897675"/>
            <a:ext cx="22113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l">
              <a:buNone/>
            </a:pPr>
            <a:r>
              <a:rPr lang="en-US" sz="1200" b="0" i="0" dirty="0">
                <a:solidFill>
                  <a:srgbClr val="1F1F1F"/>
                </a:solidFill>
                <a:latin typeface="Aptos"/>
                <a:cs typeface="Aptos"/>
              </a:rPr>
              <a:t>Soil-evap. resistance exponent</a:t>
            </a:r>
          </a:p>
        </p:txBody>
      </p:sp>
      <p:sp>
        <p:nvSpPr>
          <p:cNvPr id="102" name="R0C3"/>
          <p:cNvSpPr txBox="1"/>
          <p:nvPr/>
        </p:nvSpPr>
        <p:spPr>
          <a:xfrm>
            <a:off x="9565300" y="1897675"/>
            <a:ext cx="5103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0" i="0" dirty="0">
                <a:solidFill>
                  <a:srgbClr val="1F1F1F"/>
                </a:solidFill>
                <a:latin typeface="Aptos"/>
                <a:cs typeface="Aptos"/>
              </a:rPr>
              <a:t>–</a:t>
            </a:r>
          </a:p>
        </p:txBody>
      </p:sp>
      <p:sp>
        <p:nvSpPr>
          <p:cNvPr id="103" name="R0C4"/>
          <p:cNvSpPr txBox="1"/>
          <p:nvPr/>
        </p:nvSpPr>
        <p:spPr>
          <a:xfrm>
            <a:off x="10075600" y="1897675"/>
            <a:ext cx="9639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0" i="0" dirty="0">
                <a:solidFill>
                  <a:srgbClr val="1F1F1F"/>
                </a:solidFill>
                <a:latin typeface="Consolas"/>
                <a:cs typeface="Consolas"/>
              </a:rPr>
              <a:t>1.0 – 6.0</a:t>
            </a:r>
          </a:p>
        </p:txBody>
      </p:sp>
      <p:sp>
        <p:nvSpPr>
          <p:cNvPr id="104" name="R0C5"/>
          <p:cNvSpPr txBox="1"/>
          <p:nvPr/>
        </p:nvSpPr>
        <p:spPr>
          <a:xfrm>
            <a:off x="11039500" y="1897675"/>
            <a:ext cx="5670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i="0" dirty="0">
                <a:solidFill>
                  <a:srgbClr val="1F1F1F"/>
                </a:solidFill>
                <a:latin typeface="Consolas"/>
                <a:cs typeface="Consolas"/>
              </a:rPr>
              <a:t>5.0</a:t>
            </a:r>
          </a:p>
        </p:txBody>
      </p:sp>
      <p:sp>
        <p:nvSpPr>
          <p:cNvPr id="106" name="R1C1"/>
          <p:cNvSpPr txBox="1"/>
          <p:nvPr/>
        </p:nvSpPr>
        <p:spPr>
          <a:xfrm>
            <a:off x="6446800" y="2312675"/>
            <a:ext cx="9072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1" i="0" dirty="0">
                <a:solidFill>
                  <a:srgbClr val="196B24"/>
                </a:solidFill>
                <a:latin typeface="Consolas"/>
                <a:cs typeface="Consolas"/>
              </a:rPr>
              <a:t>CWP</a:t>
            </a:r>
          </a:p>
        </p:txBody>
      </p:sp>
      <p:sp>
        <p:nvSpPr>
          <p:cNvPr id="107" name="R1C2"/>
          <p:cNvSpPr txBox="1"/>
          <p:nvPr/>
        </p:nvSpPr>
        <p:spPr>
          <a:xfrm>
            <a:off x="7354000" y="2312675"/>
            <a:ext cx="22113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l">
              <a:buNone/>
            </a:pPr>
            <a:r>
              <a:rPr lang="en-US" sz="1200" b="0" i="0" dirty="0">
                <a:solidFill>
                  <a:srgbClr val="1F1F1F"/>
                </a:solidFill>
                <a:latin typeface="Aptos"/>
                <a:cs typeface="Aptos"/>
              </a:rPr>
              <a:t>Canopy wind absorption coefficient</a:t>
            </a:r>
          </a:p>
        </p:txBody>
      </p:sp>
      <p:sp>
        <p:nvSpPr>
          <p:cNvPr id="108" name="R1C3"/>
          <p:cNvSpPr txBox="1"/>
          <p:nvPr/>
        </p:nvSpPr>
        <p:spPr>
          <a:xfrm>
            <a:off x="9565300" y="2312675"/>
            <a:ext cx="5103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0" i="0" dirty="0">
                <a:solidFill>
                  <a:srgbClr val="1F1F1F"/>
                </a:solidFill>
                <a:latin typeface="Aptos"/>
                <a:cs typeface="Aptos"/>
              </a:rPr>
              <a:t>1/m</a:t>
            </a:r>
          </a:p>
        </p:txBody>
      </p:sp>
      <p:sp>
        <p:nvSpPr>
          <p:cNvPr id="109" name="R1C4"/>
          <p:cNvSpPr txBox="1"/>
          <p:nvPr/>
        </p:nvSpPr>
        <p:spPr>
          <a:xfrm>
            <a:off x="10075600" y="2312675"/>
            <a:ext cx="9639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0" i="0" dirty="0">
                <a:solidFill>
                  <a:srgbClr val="1F1F1F"/>
                </a:solidFill>
                <a:latin typeface="Consolas"/>
                <a:cs typeface="Consolas"/>
              </a:rPr>
              <a:t>0.09 – 0.36</a:t>
            </a:r>
          </a:p>
        </p:txBody>
      </p:sp>
      <p:sp>
        <p:nvSpPr>
          <p:cNvPr id="110" name="R1C5"/>
          <p:cNvSpPr txBox="1"/>
          <p:nvPr/>
        </p:nvSpPr>
        <p:spPr>
          <a:xfrm>
            <a:off x="11039500" y="2312675"/>
            <a:ext cx="5670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i="0" dirty="0">
                <a:solidFill>
                  <a:srgbClr val="1F1F1F"/>
                </a:solidFill>
                <a:latin typeface="Consolas"/>
                <a:cs typeface="Consolas"/>
              </a:rPr>
              <a:t>0.18</a:t>
            </a:r>
          </a:p>
        </p:txBody>
      </p:sp>
      <p:sp>
        <p:nvSpPr>
          <p:cNvPr id="111" name="Zebra2"/>
          <p:cNvSpPr/>
          <p:nvPr/>
        </p:nvSpPr>
        <p:spPr>
          <a:xfrm>
            <a:off x="6446798" y="2727675"/>
            <a:ext cx="5159702" cy="41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endParaRPr lang="en-US" sz="1200"/>
          </a:p>
        </p:txBody>
      </p:sp>
      <p:sp>
        <p:nvSpPr>
          <p:cNvPr id="113" name="R2C1"/>
          <p:cNvSpPr txBox="1"/>
          <p:nvPr/>
        </p:nvSpPr>
        <p:spPr>
          <a:xfrm>
            <a:off x="6446800" y="2727675"/>
            <a:ext cx="9072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1" i="0" dirty="0">
                <a:solidFill>
                  <a:srgbClr val="196B24"/>
                </a:solidFill>
                <a:latin typeface="Consolas"/>
                <a:cs typeface="Consolas"/>
              </a:rPr>
              <a:t>MP</a:t>
            </a:r>
          </a:p>
        </p:txBody>
      </p:sp>
      <p:sp>
        <p:nvSpPr>
          <p:cNvPr id="114" name="R2C2"/>
          <p:cNvSpPr txBox="1"/>
          <p:nvPr/>
        </p:nvSpPr>
        <p:spPr>
          <a:xfrm>
            <a:off x="7354000" y="2727675"/>
            <a:ext cx="22113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l">
              <a:buNone/>
            </a:pPr>
            <a:r>
              <a:rPr lang="en-US" sz="1200" b="0" i="0" dirty="0">
                <a:solidFill>
                  <a:srgbClr val="1F1F1F"/>
                </a:solidFill>
                <a:latin typeface="Aptos"/>
                <a:cs typeface="Aptos"/>
              </a:rPr>
              <a:t>Ball–Berry conductance slope</a:t>
            </a:r>
          </a:p>
        </p:txBody>
      </p:sp>
      <p:sp>
        <p:nvSpPr>
          <p:cNvPr id="115" name="R2C3"/>
          <p:cNvSpPr txBox="1"/>
          <p:nvPr/>
        </p:nvSpPr>
        <p:spPr>
          <a:xfrm>
            <a:off x="9565300" y="2727675"/>
            <a:ext cx="5103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0" i="0" dirty="0">
                <a:solidFill>
                  <a:srgbClr val="1F1F1F"/>
                </a:solidFill>
                <a:latin typeface="Aptos"/>
                <a:cs typeface="Aptos"/>
              </a:rPr>
              <a:t>–</a:t>
            </a:r>
          </a:p>
        </p:txBody>
      </p:sp>
      <p:sp>
        <p:nvSpPr>
          <p:cNvPr id="116" name="R2C4"/>
          <p:cNvSpPr txBox="1"/>
          <p:nvPr/>
        </p:nvSpPr>
        <p:spPr>
          <a:xfrm>
            <a:off x="10075600" y="2727675"/>
            <a:ext cx="9639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0" i="0" dirty="0">
                <a:solidFill>
                  <a:srgbClr val="1F1F1F"/>
                </a:solidFill>
                <a:latin typeface="Consolas"/>
                <a:cs typeface="Consolas"/>
              </a:rPr>
              <a:t>3.6 – 12.6</a:t>
            </a:r>
          </a:p>
        </p:txBody>
      </p:sp>
      <p:sp>
        <p:nvSpPr>
          <p:cNvPr id="117" name="R2C5"/>
          <p:cNvSpPr txBox="1"/>
          <p:nvPr/>
        </p:nvSpPr>
        <p:spPr>
          <a:xfrm>
            <a:off x="11039500" y="2727675"/>
            <a:ext cx="5670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i="0" dirty="0">
                <a:solidFill>
                  <a:srgbClr val="1F1F1F"/>
                </a:solidFill>
                <a:latin typeface="Consolas"/>
                <a:cs typeface="Consolas"/>
              </a:rPr>
              <a:t>9.0</a:t>
            </a:r>
          </a:p>
        </p:txBody>
      </p:sp>
      <p:sp>
        <p:nvSpPr>
          <p:cNvPr id="119" name="R3C1"/>
          <p:cNvSpPr txBox="1"/>
          <p:nvPr/>
        </p:nvSpPr>
        <p:spPr>
          <a:xfrm>
            <a:off x="6446800" y="3142675"/>
            <a:ext cx="9072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1" i="0" dirty="0">
                <a:solidFill>
                  <a:srgbClr val="196B24"/>
                </a:solidFill>
                <a:latin typeface="Consolas"/>
                <a:cs typeface="Consolas"/>
              </a:rPr>
              <a:t>VCMX25</a:t>
            </a:r>
          </a:p>
        </p:txBody>
      </p:sp>
      <p:sp>
        <p:nvSpPr>
          <p:cNvPr id="120" name="R3C2"/>
          <p:cNvSpPr txBox="1"/>
          <p:nvPr/>
        </p:nvSpPr>
        <p:spPr>
          <a:xfrm>
            <a:off x="7354000" y="3142675"/>
            <a:ext cx="22113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l">
              <a:buNone/>
            </a:pPr>
            <a:r>
              <a:rPr lang="en-US" sz="1200" b="0" i="0" dirty="0">
                <a:solidFill>
                  <a:srgbClr val="1F1F1F"/>
                </a:solidFill>
                <a:latin typeface="Aptos"/>
                <a:cs typeface="Aptos"/>
              </a:rPr>
              <a:t>Max carboxylation rate at 25 °C</a:t>
            </a:r>
          </a:p>
        </p:txBody>
      </p:sp>
      <p:sp>
        <p:nvSpPr>
          <p:cNvPr id="121" name="R3C3"/>
          <p:cNvSpPr txBox="1"/>
          <p:nvPr/>
        </p:nvSpPr>
        <p:spPr>
          <a:xfrm>
            <a:off x="9565300" y="3142675"/>
            <a:ext cx="5103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0" i="0" dirty="0">
                <a:solidFill>
                  <a:srgbClr val="1F1F1F"/>
                </a:solidFill>
                <a:latin typeface="Aptos"/>
                <a:cs typeface="Aptos"/>
              </a:rPr>
              <a:t>μmol/m²/s</a:t>
            </a:r>
          </a:p>
        </p:txBody>
      </p:sp>
      <p:sp>
        <p:nvSpPr>
          <p:cNvPr id="122" name="R3C4"/>
          <p:cNvSpPr txBox="1"/>
          <p:nvPr/>
        </p:nvSpPr>
        <p:spPr>
          <a:xfrm>
            <a:off x="10075600" y="3142675"/>
            <a:ext cx="9639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0" i="0" dirty="0">
                <a:solidFill>
                  <a:srgbClr val="1F1F1F"/>
                </a:solidFill>
                <a:latin typeface="Consolas"/>
                <a:cs typeface="Consolas"/>
              </a:rPr>
              <a:t>24.0 – 112.0</a:t>
            </a:r>
          </a:p>
        </p:txBody>
      </p:sp>
      <p:sp>
        <p:nvSpPr>
          <p:cNvPr id="123" name="R3C5"/>
          <p:cNvSpPr txBox="1"/>
          <p:nvPr/>
        </p:nvSpPr>
        <p:spPr>
          <a:xfrm>
            <a:off x="11039500" y="3142675"/>
            <a:ext cx="5670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i="0" dirty="0">
                <a:solidFill>
                  <a:srgbClr val="1F1F1F"/>
                </a:solidFill>
                <a:latin typeface="Consolas"/>
                <a:cs typeface="Consolas"/>
              </a:rPr>
              <a:t>52.2</a:t>
            </a:r>
          </a:p>
        </p:txBody>
      </p:sp>
      <p:sp>
        <p:nvSpPr>
          <p:cNvPr id="124" name="Zebra4"/>
          <p:cNvSpPr/>
          <p:nvPr/>
        </p:nvSpPr>
        <p:spPr>
          <a:xfrm>
            <a:off x="6446798" y="3557675"/>
            <a:ext cx="5159702" cy="41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endParaRPr lang="en-US" sz="1200"/>
          </a:p>
        </p:txBody>
      </p:sp>
      <p:sp>
        <p:nvSpPr>
          <p:cNvPr id="126" name="R4C1"/>
          <p:cNvSpPr txBox="1"/>
          <p:nvPr/>
        </p:nvSpPr>
        <p:spPr>
          <a:xfrm>
            <a:off x="6446800" y="3557675"/>
            <a:ext cx="9072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1" i="0" dirty="0">
                <a:solidFill>
                  <a:srgbClr val="196B24"/>
                </a:solidFill>
                <a:latin typeface="Consolas"/>
                <a:cs typeface="Consolas"/>
              </a:rPr>
              <a:t>MFSNO</a:t>
            </a:r>
          </a:p>
        </p:txBody>
      </p:sp>
      <p:sp>
        <p:nvSpPr>
          <p:cNvPr id="127" name="R4C2"/>
          <p:cNvSpPr txBox="1"/>
          <p:nvPr/>
        </p:nvSpPr>
        <p:spPr>
          <a:xfrm>
            <a:off x="7354000" y="3557675"/>
            <a:ext cx="22113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l">
              <a:buNone/>
            </a:pPr>
            <a:r>
              <a:rPr lang="en-US" sz="1200" b="0" i="0" dirty="0">
                <a:solidFill>
                  <a:srgbClr val="1F1F1F"/>
                </a:solidFill>
                <a:latin typeface="Aptos"/>
                <a:cs typeface="Aptos"/>
              </a:rPr>
              <a:t>Snow-cover depletion melt factor</a:t>
            </a:r>
          </a:p>
        </p:txBody>
      </p:sp>
      <p:sp>
        <p:nvSpPr>
          <p:cNvPr id="128" name="R4C3"/>
          <p:cNvSpPr txBox="1"/>
          <p:nvPr/>
        </p:nvSpPr>
        <p:spPr>
          <a:xfrm>
            <a:off x="9565300" y="3557675"/>
            <a:ext cx="5103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0" i="0" dirty="0">
                <a:solidFill>
                  <a:srgbClr val="1F1F1F"/>
                </a:solidFill>
                <a:latin typeface="Aptos"/>
                <a:cs typeface="Aptos"/>
              </a:rPr>
              <a:t>–</a:t>
            </a:r>
          </a:p>
        </p:txBody>
      </p:sp>
      <p:sp>
        <p:nvSpPr>
          <p:cNvPr id="129" name="R4C4"/>
          <p:cNvSpPr txBox="1"/>
          <p:nvPr/>
        </p:nvSpPr>
        <p:spPr>
          <a:xfrm>
            <a:off x="10075600" y="3557675"/>
            <a:ext cx="9639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0" i="0" dirty="0">
                <a:solidFill>
                  <a:srgbClr val="1F1F1F"/>
                </a:solidFill>
                <a:latin typeface="Consolas"/>
                <a:cs typeface="Consolas"/>
              </a:rPr>
              <a:t>0.5 – 4.0</a:t>
            </a:r>
          </a:p>
        </p:txBody>
      </p:sp>
      <p:sp>
        <p:nvSpPr>
          <p:cNvPr id="130" name="R4C5"/>
          <p:cNvSpPr txBox="1"/>
          <p:nvPr/>
        </p:nvSpPr>
        <p:spPr>
          <a:xfrm>
            <a:off x="11039500" y="3557675"/>
            <a:ext cx="5670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i="0" dirty="0">
                <a:solidFill>
                  <a:srgbClr val="1F1F1F"/>
                </a:solidFill>
                <a:latin typeface="Consolas"/>
                <a:cs typeface="Consolas"/>
              </a:rPr>
              <a:t>2.0</a:t>
            </a:r>
          </a:p>
        </p:txBody>
      </p:sp>
      <p:sp>
        <p:nvSpPr>
          <p:cNvPr id="132" name="R5C1"/>
          <p:cNvSpPr txBox="1"/>
          <p:nvPr/>
        </p:nvSpPr>
        <p:spPr>
          <a:xfrm>
            <a:off x="6380125" y="3972675"/>
            <a:ext cx="107795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1" i="0" dirty="0">
                <a:solidFill>
                  <a:srgbClr val="196B24"/>
                </a:solidFill>
                <a:latin typeface="Consolas"/>
                <a:cs typeface="Consolas"/>
              </a:rPr>
              <a:t>RSURF_SNOW</a:t>
            </a:r>
          </a:p>
        </p:txBody>
      </p:sp>
      <p:sp>
        <p:nvSpPr>
          <p:cNvPr id="133" name="R5C2"/>
          <p:cNvSpPr txBox="1"/>
          <p:nvPr/>
        </p:nvSpPr>
        <p:spPr>
          <a:xfrm>
            <a:off x="7354000" y="3972675"/>
            <a:ext cx="22113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l">
              <a:buNone/>
            </a:pPr>
            <a:r>
              <a:rPr lang="en-US" sz="1200" b="0" i="0" dirty="0">
                <a:solidFill>
                  <a:srgbClr val="1F1F1F"/>
                </a:solidFill>
                <a:latin typeface="Aptos"/>
                <a:cs typeface="Aptos"/>
              </a:rPr>
              <a:t>Surface resistance for snow</a:t>
            </a:r>
          </a:p>
        </p:txBody>
      </p:sp>
      <p:sp>
        <p:nvSpPr>
          <p:cNvPr id="134" name="R5C3"/>
          <p:cNvSpPr txBox="1"/>
          <p:nvPr/>
        </p:nvSpPr>
        <p:spPr>
          <a:xfrm>
            <a:off x="9565300" y="3972675"/>
            <a:ext cx="5103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0" i="0" dirty="0">
                <a:solidFill>
                  <a:srgbClr val="1F1F1F"/>
                </a:solidFill>
                <a:latin typeface="Aptos"/>
                <a:cs typeface="Aptos"/>
              </a:rPr>
              <a:t>s/m</a:t>
            </a:r>
          </a:p>
        </p:txBody>
      </p:sp>
      <p:sp>
        <p:nvSpPr>
          <p:cNvPr id="135" name="R5C4"/>
          <p:cNvSpPr txBox="1"/>
          <p:nvPr/>
        </p:nvSpPr>
        <p:spPr>
          <a:xfrm>
            <a:off x="10075600" y="3972675"/>
            <a:ext cx="9639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0" i="0" dirty="0">
                <a:solidFill>
                  <a:srgbClr val="1F1F1F"/>
                </a:solidFill>
                <a:latin typeface="Consolas"/>
                <a:cs typeface="Consolas"/>
              </a:rPr>
              <a:t>0.136 – 100.0</a:t>
            </a:r>
          </a:p>
        </p:txBody>
      </p:sp>
      <p:sp>
        <p:nvSpPr>
          <p:cNvPr id="136" name="R5C5"/>
          <p:cNvSpPr txBox="1"/>
          <p:nvPr/>
        </p:nvSpPr>
        <p:spPr>
          <a:xfrm>
            <a:off x="11039500" y="3972675"/>
            <a:ext cx="5670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i="0" dirty="0">
                <a:solidFill>
                  <a:srgbClr val="1F1F1F"/>
                </a:solidFill>
                <a:latin typeface="Consolas"/>
                <a:cs typeface="Consolas"/>
              </a:rPr>
              <a:t>50.0</a:t>
            </a:r>
          </a:p>
        </p:txBody>
      </p:sp>
      <p:sp>
        <p:nvSpPr>
          <p:cNvPr id="137" name="Zebra6"/>
          <p:cNvSpPr/>
          <p:nvPr/>
        </p:nvSpPr>
        <p:spPr>
          <a:xfrm>
            <a:off x="6446798" y="4387675"/>
            <a:ext cx="5159702" cy="415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endParaRPr lang="en-US" sz="1200"/>
          </a:p>
        </p:txBody>
      </p:sp>
      <p:sp>
        <p:nvSpPr>
          <p:cNvPr id="139" name="R6C1"/>
          <p:cNvSpPr txBox="1"/>
          <p:nvPr/>
        </p:nvSpPr>
        <p:spPr>
          <a:xfrm>
            <a:off x="6446800" y="4387675"/>
            <a:ext cx="9072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1" i="0" dirty="0">
                <a:solidFill>
                  <a:srgbClr val="196B24"/>
                </a:solidFill>
                <a:latin typeface="Consolas"/>
                <a:cs typeface="Consolas"/>
              </a:rPr>
              <a:t>SCAMAX</a:t>
            </a:r>
          </a:p>
        </p:txBody>
      </p:sp>
      <p:sp>
        <p:nvSpPr>
          <p:cNvPr id="140" name="R6C2"/>
          <p:cNvSpPr txBox="1"/>
          <p:nvPr/>
        </p:nvSpPr>
        <p:spPr>
          <a:xfrm>
            <a:off x="7354000" y="4387675"/>
            <a:ext cx="22113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l">
              <a:buNone/>
            </a:pPr>
            <a:r>
              <a:rPr lang="en-US" sz="1200" b="0" i="0" dirty="0">
                <a:solidFill>
                  <a:srgbClr val="1F1F1F"/>
                </a:solidFill>
                <a:latin typeface="Aptos"/>
                <a:cs typeface="Aptos"/>
              </a:rPr>
              <a:t>Max snow-cover fraction</a:t>
            </a:r>
          </a:p>
        </p:txBody>
      </p:sp>
      <p:sp>
        <p:nvSpPr>
          <p:cNvPr id="141" name="R6C3"/>
          <p:cNvSpPr txBox="1"/>
          <p:nvPr/>
        </p:nvSpPr>
        <p:spPr>
          <a:xfrm>
            <a:off x="9565300" y="4387675"/>
            <a:ext cx="5103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0" i="0" dirty="0">
                <a:solidFill>
                  <a:srgbClr val="1F1F1F"/>
                </a:solidFill>
                <a:latin typeface="Aptos"/>
                <a:cs typeface="Aptos"/>
              </a:rPr>
              <a:t>–</a:t>
            </a:r>
          </a:p>
        </p:txBody>
      </p:sp>
      <p:sp>
        <p:nvSpPr>
          <p:cNvPr id="142" name="R6C4"/>
          <p:cNvSpPr txBox="1"/>
          <p:nvPr/>
        </p:nvSpPr>
        <p:spPr>
          <a:xfrm>
            <a:off x="10075600" y="4387675"/>
            <a:ext cx="9639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b="0" i="0" dirty="0">
                <a:solidFill>
                  <a:srgbClr val="1F1F1F"/>
                </a:solidFill>
                <a:latin typeface="Consolas"/>
                <a:cs typeface="Consolas"/>
              </a:rPr>
              <a:t>0.7 – 1.0</a:t>
            </a:r>
          </a:p>
        </p:txBody>
      </p:sp>
      <p:sp>
        <p:nvSpPr>
          <p:cNvPr id="143" name="R6C5"/>
          <p:cNvSpPr txBox="1"/>
          <p:nvPr/>
        </p:nvSpPr>
        <p:spPr>
          <a:xfrm>
            <a:off x="11039500" y="4387675"/>
            <a:ext cx="567000" cy="415000"/>
          </a:xfrm>
          <a:prstGeom prst="rect">
            <a:avLst/>
          </a:prstGeom>
          <a:noFill/>
        </p:spPr>
        <p:txBody>
          <a:bodyPr wrap="square" lIns="36576" tIns="0" rIns="36576" bIns="0" rtlCol="0" anchor="ctr"/>
          <a:lstStyle/>
          <a:p>
            <a:pPr algn="ctr">
              <a:buNone/>
            </a:pPr>
            <a:r>
              <a:rPr lang="en-US" sz="1200" i="0" dirty="0">
                <a:solidFill>
                  <a:srgbClr val="1F1F1F"/>
                </a:solidFill>
                <a:latin typeface="Consolas"/>
                <a:cs typeface="Consolas"/>
              </a:rPr>
              <a:t>0.9</a:t>
            </a:r>
          </a:p>
        </p:txBody>
      </p:sp>
      <p:sp>
        <p:nvSpPr>
          <p:cNvPr id="4" name="CFE Header">
            <a:extLst>
              <a:ext uri="{FF2B5EF4-FFF2-40B4-BE49-F238E27FC236}">
                <a16:creationId xmlns:a16="http://schemas.microsoft.com/office/drawing/2014/main" id="{40E0F30A-0B20-EE2B-D391-E175767E4A0E}"/>
              </a:ext>
            </a:extLst>
          </p:cNvPr>
          <p:cNvSpPr/>
          <p:nvPr/>
        </p:nvSpPr>
        <p:spPr>
          <a:xfrm>
            <a:off x="511443" y="971520"/>
            <a:ext cx="2422257" cy="3124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2400" b="1" dirty="0">
                <a:latin typeface="Aptos"/>
                <a:cs typeface="Aptos"/>
              </a:rPr>
              <a:t>CFE Parameters</a:t>
            </a:r>
          </a:p>
        </p:txBody>
      </p:sp>
      <p:sp>
        <p:nvSpPr>
          <p:cNvPr id="5" name="CFE Header">
            <a:extLst>
              <a:ext uri="{FF2B5EF4-FFF2-40B4-BE49-F238E27FC236}">
                <a16:creationId xmlns:a16="http://schemas.microsoft.com/office/drawing/2014/main" id="{38974786-5480-9D17-935D-4978B6BE633A}"/>
              </a:ext>
            </a:extLst>
          </p:cNvPr>
          <p:cNvSpPr/>
          <p:nvPr/>
        </p:nvSpPr>
        <p:spPr>
          <a:xfrm>
            <a:off x="6344350" y="971520"/>
            <a:ext cx="3101628" cy="31242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ctr">
              <a:buNone/>
            </a:pPr>
            <a:r>
              <a:rPr lang="en-US" sz="2400" b="1" dirty="0">
                <a:latin typeface="Aptos"/>
                <a:cs typeface="Aptos"/>
              </a:rPr>
              <a:t>Noah MP Parameters</a:t>
            </a:r>
          </a:p>
        </p:txBody>
      </p:sp>
      <p:pic>
        <p:nvPicPr>
          <p:cNvPr id="3" name="Picture 2" descr="A qr code with a few squares&#10;&#10;AI-generated content may be incorrect.">
            <a:extLst>
              <a:ext uri="{FF2B5EF4-FFF2-40B4-BE49-F238E27FC236}">
                <a16:creationId xmlns:a16="http://schemas.microsoft.com/office/drawing/2014/main" id="{FEA1E00E-E6E0-E635-40C8-1A4677CB96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0982" y="5375325"/>
            <a:ext cx="914400" cy="914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9CF3B9-6239-A328-21AC-11727E1228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099" y="5375325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67C7B0-DD8B-B6A6-E4F6-02F19FE3EC42}"/>
              </a:ext>
            </a:extLst>
          </p:cNvPr>
          <p:cNvSpPr txBox="1"/>
          <p:nvPr/>
        </p:nvSpPr>
        <p:spPr>
          <a:xfrm>
            <a:off x="9560982" y="622366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CFE Parameters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20F417-2473-9DDE-1712-E299AEFA905D}"/>
              </a:ext>
            </a:extLst>
          </p:cNvPr>
          <p:cNvSpPr txBox="1"/>
          <p:nvPr/>
        </p:nvSpPr>
        <p:spPr>
          <a:xfrm>
            <a:off x="10692099" y="622366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Noah MP Parameters</a:t>
            </a:r>
          </a:p>
        </p:txBody>
      </p:sp>
    </p:spTree>
    <p:extLst>
      <p:ext uri="{BB962C8B-B14F-4D97-AF65-F5344CB8AC3E}">
        <p14:creationId xmlns:p14="http://schemas.microsoft.com/office/powerpoint/2010/main" val="2290294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336D1E-99C2-136E-8CD1-423698490B2F}"/>
              </a:ext>
            </a:extLst>
          </p:cNvPr>
          <p:cNvSpPr/>
          <p:nvPr/>
        </p:nvSpPr>
        <p:spPr>
          <a:xfrm>
            <a:off x="0" y="207005"/>
            <a:ext cx="12192000" cy="5657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891"/>
            <a:r>
              <a:rPr lang="en-US" sz="4800" b="1" dirty="0">
                <a:solidFill>
                  <a:schemeClr val="tx1"/>
                </a:solidFill>
              </a:rPr>
              <a:t>Calibration Process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4144271-A7BD-2AE7-1431-2F7E12489FAD}"/>
              </a:ext>
            </a:extLst>
          </p:cNvPr>
          <p:cNvSpPr/>
          <p:nvPr/>
        </p:nvSpPr>
        <p:spPr>
          <a:xfrm>
            <a:off x="2850218" y="3194295"/>
            <a:ext cx="571841" cy="575385"/>
          </a:xfrm>
          <a:prstGeom prst="rightArrow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blue circle with a wrench and a gear&#10;&#10;AI-generated content may be incorrect.">
            <a:extLst>
              <a:ext uri="{FF2B5EF4-FFF2-40B4-BE49-F238E27FC236}">
                <a16:creationId xmlns:a16="http://schemas.microsoft.com/office/drawing/2014/main" id="{614FF7C9-7708-9E09-7309-EA047901544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85547" y="1475765"/>
            <a:ext cx="1703194" cy="153633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22597CD-F5A1-A0DB-D124-269BD49DE4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497" y="2399371"/>
            <a:ext cx="2002629" cy="2290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FBAAA90-3A58-0CF4-AAA0-BE2F8AFF61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1710" y="2812655"/>
            <a:ext cx="609600" cy="6096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CF270BB-D770-BAC1-BE2E-831D43771CB7}"/>
              </a:ext>
            </a:extLst>
          </p:cNvPr>
          <p:cNvSpPr txBox="1"/>
          <p:nvPr/>
        </p:nvSpPr>
        <p:spPr>
          <a:xfrm>
            <a:off x="3757039" y="3517400"/>
            <a:ext cx="12956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Dynamically Dimensioned Search (DDS)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CF87BBA-A70A-4D16-C6D8-FA2F5F6D8AC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987" t="4445" r="24178" b="4167"/>
          <a:stretch>
            <a:fillRect/>
          </a:stretch>
        </p:blipFill>
        <p:spPr>
          <a:xfrm>
            <a:off x="3438055" y="2308563"/>
            <a:ext cx="637394" cy="6096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B7436D2-8AC2-7239-7740-98282AFCE2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4376" y="2795806"/>
            <a:ext cx="609601" cy="60960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AEFC297-9971-81B5-7F4C-798386986929}"/>
              </a:ext>
            </a:extLst>
          </p:cNvPr>
          <p:cNvSpPr txBox="1"/>
          <p:nvPr/>
        </p:nvSpPr>
        <p:spPr>
          <a:xfrm>
            <a:off x="5087258" y="3517400"/>
            <a:ext cx="96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Objective Function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AC19272-9E86-DE10-94CA-94A192AE321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6722"/>
          <a:stretch>
            <a:fillRect/>
          </a:stretch>
        </p:blipFill>
        <p:spPr>
          <a:xfrm>
            <a:off x="6219081" y="2925020"/>
            <a:ext cx="1057277" cy="309669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CEB1DAFA-A415-DA96-3E41-E17D445501A6}"/>
              </a:ext>
            </a:extLst>
          </p:cNvPr>
          <p:cNvSpPr/>
          <p:nvPr/>
        </p:nvSpPr>
        <p:spPr>
          <a:xfrm>
            <a:off x="3756754" y="2639762"/>
            <a:ext cx="3624847" cy="1621732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4A9D0F-E521-C2B7-13BE-7A967A01533B}"/>
              </a:ext>
            </a:extLst>
          </p:cNvPr>
          <p:cNvSpPr txBox="1"/>
          <p:nvPr/>
        </p:nvSpPr>
        <p:spPr>
          <a:xfrm>
            <a:off x="6113840" y="3517400"/>
            <a:ext cx="12677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Single Gage calibration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AB4AC39-F858-3054-1B69-477FEA5824F5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0584" t="6528" r="5911" b="1250"/>
          <a:stretch>
            <a:fillRect/>
          </a:stretch>
        </p:blipFill>
        <p:spPr>
          <a:xfrm>
            <a:off x="589673" y="2222587"/>
            <a:ext cx="789990" cy="793575"/>
          </a:xfrm>
          <a:prstGeom prst="rect">
            <a:avLst/>
          </a:prstGeom>
        </p:spPr>
      </p:pic>
      <p:pic>
        <p:nvPicPr>
          <p:cNvPr id="34" name="Picture 33" descr="A diagram of a process&#10;&#10;AI-generated content may be incorrect.">
            <a:extLst>
              <a:ext uri="{FF2B5EF4-FFF2-40B4-BE49-F238E27FC236}">
                <a16:creationId xmlns:a16="http://schemas.microsoft.com/office/drawing/2014/main" id="{4425051E-8648-E172-5AFC-E410DFB6F627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790" t="10173" r="4954" b="2187"/>
          <a:stretch>
            <a:fillRect/>
          </a:stretch>
        </p:blipFill>
        <p:spPr>
          <a:xfrm>
            <a:off x="2051239" y="3850903"/>
            <a:ext cx="1151303" cy="1162050"/>
          </a:xfrm>
          <a:prstGeom prst="rect">
            <a:avLst/>
          </a:prstGeom>
        </p:spPr>
      </p:pic>
      <p:sp>
        <p:nvSpPr>
          <p:cNvPr id="35" name="Arrow: Right 34">
            <a:extLst>
              <a:ext uri="{FF2B5EF4-FFF2-40B4-BE49-F238E27FC236}">
                <a16:creationId xmlns:a16="http://schemas.microsoft.com/office/drawing/2014/main" id="{A2031E8F-E8E3-293F-027E-98EE1E4DFC2E}"/>
              </a:ext>
            </a:extLst>
          </p:cNvPr>
          <p:cNvSpPr/>
          <p:nvPr/>
        </p:nvSpPr>
        <p:spPr>
          <a:xfrm>
            <a:off x="7732706" y="3176486"/>
            <a:ext cx="571841" cy="575385"/>
          </a:xfrm>
          <a:prstGeom prst="rightArrow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 descr="A blue arrow with black text&#10;&#10;AI-generated content may be incorrect.">
            <a:extLst>
              <a:ext uri="{FF2B5EF4-FFF2-40B4-BE49-F238E27FC236}">
                <a16:creationId xmlns:a16="http://schemas.microsoft.com/office/drawing/2014/main" id="{A20683D1-F1D7-C7CC-4C82-ACD143B6F4D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68133" y="2261822"/>
            <a:ext cx="690275" cy="703083"/>
          </a:xfrm>
          <a:prstGeom prst="rect">
            <a:avLst/>
          </a:prstGeom>
        </p:spPr>
      </p:pic>
      <p:pic>
        <p:nvPicPr>
          <p:cNvPr id="39" name="Picture 38" descr="A cartoon of a river&#10;&#10;AI-generated content may be incorrect.">
            <a:extLst>
              <a:ext uri="{FF2B5EF4-FFF2-40B4-BE49-F238E27FC236}">
                <a16:creationId xmlns:a16="http://schemas.microsoft.com/office/drawing/2014/main" id="{8914A12E-A9BE-75C4-6B31-C83531EA92B2}"/>
              </a:ext>
            </a:extLst>
          </p:cNvPr>
          <p:cNvPicPr>
            <a:picLocks noChangeAspect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41301" y="2639762"/>
            <a:ext cx="2950977" cy="1714502"/>
          </a:xfrm>
          <a:prstGeom prst="rect">
            <a:avLst/>
          </a:prstGeom>
        </p:spPr>
      </p:pic>
      <p:pic>
        <p:nvPicPr>
          <p:cNvPr id="40" name="Picture 39" descr="A blue arrow with black text&#10;&#10;AI-generated content may be incorrect.">
            <a:extLst>
              <a:ext uri="{FF2B5EF4-FFF2-40B4-BE49-F238E27FC236}">
                <a16:creationId xmlns:a16="http://schemas.microsoft.com/office/drawing/2014/main" id="{309DD2FC-12D6-7FA3-A473-82892B14899F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30483" y="2399371"/>
            <a:ext cx="821635" cy="836880"/>
          </a:xfrm>
          <a:prstGeom prst="rect">
            <a:avLst/>
          </a:prstGeom>
        </p:spPr>
      </p:pic>
      <p:pic>
        <p:nvPicPr>
          <p:cNvPr id="42" name="Picture 41" descr="A blue and black sign with arrows&#10;&#10;AI-generated content may be incorrect.">
            <a:extLst>
              <a:ext uri="{FF2B5EF4-FFF2-40B4-BE49-F238E27FC236}">
                <a16:creationId xmlns:a16="http://schemas.microsoft.com/office/drawing/2014/main" id="{FBD91AF2-4593-942B-796B-E9C61E1E1183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6568" t="3018" r="4244"/>
          <a:stretch>
            <a:fillRect/>
          </a:stretch>
        </p:blipFill>
        <p:spPr>
          <a:xfrm>
            <a:off x="9378054" y="1475765"/>
            <a:ext cx="1304570" cy="1301779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CDC05314-937D-7D41-2C12-5987F2A76DD5}"/>
              </a:ext>
            </a:extLst>
          </p:cNvPr>
          <p:cNvSpPr txBox="1"/>
          <p:nvPr/>
        </p:nvSpPr>
        <p:spPr>
          <a:xfrm>
            <a:off x="8924995" y="4448059"/>
            <a:ext cx="2783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Channel Routing (T-Route)</a:t>
            </a:r>
          </a:p>
        </p:txBody>
      </p:sp>
    </p:spTree>
    <p:extLst>
      <p:ext uri="{BB962C8B-B14F-4D97-AF65-F5344CB8AC3E}">
        <p14:creationId xmlns:p14="http://schemas.microsoft.com/office/powerpoint/2010/main" val="482890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1390</TotalTime>
  <Words>296</Words>
  <Application>Microsoft Office PowerPoint</Application>
  <PresentationFormat>Widescreen</PresentationFormat>
  <Paragraphs>124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Saiduzzaman, Md (S&amp;T-Student)</dc:creator>
  <cp:lastModifiedBy>Saiduzzaman, Md (S&amp;T-Student)</cp:lastModifiedBy>
  <cp:revision>14</cp:revision>
  <dcterms:created xsi:type="dcterms:W3CDTF">2026-07-08T15:21:36Z</dcterms:created>
  <dcterms:modified xsi:type="dcterms:W3CDTF">2026-07-15T03:08:57Z</dcterms:modified>
</cp:coreProperties>
</file>